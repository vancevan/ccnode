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ten structures, the lingual gyrus and the lateral occipital gyri, inferior and middle, have the strongest links to visual deficits in HD. The cuneus thins but has not been tied to test scores. So we hypothesize that HD subjects have smaller volumes in all ten occipital ROIs, on both sides, which we test next. One caveat: most studies use FreeSurfer labels, so their “lateral occipital” roughly equals our IOG and MOG, and primary visual cortex is split between our cuneus and lingual gyrus.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274320" y="73152"/>
            <a:ext cx="11612880" cy="566928"/>
          </a:xfrm>
          <a:prstGeom prst="rect">
            <a:avLst/>
          </a:prstGeom>
          <a:noFill/>
          <a:ln/>
        </p:spPr>
        <p:txBody>
          <a:bodyPr wrap="square" lIns="0" tIns="0" rIns="0" bIns="0" rtlCol="0" anchor="b"/>
          <a:lstStyle/>
          <a:p>
            <a:pPr indent="0" marL="0">
              <a:buNone/>
            </a:pPr>
            <a:r>
              <a:rPr lang="en-US" sz="4000" b="1" dirty="0">
                <a:solidFill>
                  <a:srgbClr val="0E2B6D"/>
                </a:solidFill>
                <a:latin typeface="Tahoma" pitchFamily="34" charset="0"/>
                <a:ea typeface="Tahoma" pitchFamily="34" charset="-122"/>
                <a:cs typeface="Tahoma" pitchFamily="34" charset="-120"/>
              </a:rPr>
              <a:t>What we expect in our 10 occipital ROIs</a:t>
            </a:r>
            <a:endParaRPr lang="en-US" sz="4000" dirty="0"/>
          </a:p>
        </p:txBody>
      </p:sp>
      <p:sp>
        <p:nvSpPr>
          <p:cNvPr id="3" name="title-rule"/>
          <p:cNvSpPr/>
          <p:nvPr/>
        </p:nvSpPr>
        <p:spPr>
          <a:xfrm>
            <a:off x="182880" y="667512"/>
            <a:ext cx="11768328" cy="0"/>
          </a:xfrm>
          <a:prstGeom prst="line">
            <a:avLst/>
          </a:prstGeom>
          <a:noFill/>
          <a:ln w="12700">
            <a:solidFill>
              <a:srgbClr val="6095DA"/>
            </a:solidFill>
            <a:prstDash val="solid"/>
          </a:ln>
        </p:spPr>
      </p:sp>
      <p:sp>
        <p:nvSpPr>
          <p:cNvPr id="4" name="intro"/>
          <p:cNvSpPr txBox="1"/>
          <p:nvPr/>
        </p:nvSpPr>
        <p:spPr>
          <a:xfrm>
            <a:off x="274320" y="841248"/>
            <a:ext cx="11612880" cy="411480"/>
          </a:xfrm>
          <a:prstGeom prst="rect">
            <a:avLst/>
          </a:prstGeom>
          <a:noFill/>
          <a:ln/>
        </p:spPr>
        <p:txBody>
          <a:bodyPr wrap="square" lIns="0" tIns="0" rIns="0" bIns="0" rtlCol="0" anchor="ctr"/>
          <a:lstStyle/>
          <a:p>
            <a:pPr indent="0" marL="0">
              <a:buNone/>
            </a:pPr>
            <a:r>
              <a:rPr lang="en-US" sz="2200" dirty="0">
                <a:solidFill>
                  <a:srgbClr val="306FC7"/>
                </a:solidFill>
                <a:latin typeface="Tahoma" pitchFamily="34" charset="0"/>
                <a:ea typeface="Tahoma" pitchFamily="34" charset="-122"/>
                <a:cs typeface="Tahoma" pitchFamily="34" charset="-120"/>
              </a:rPr>
              <a:t>What the literature links to each structure (left and right of each)</a:t>
            </a:r>
            <a:endParaRPr lang="en-US" sz="2200" dirty="0"/>
          </a:p>
        </p:txBody>
      </p:sp>
      <p:sp>
        <p:nvSpPr>
          <p:cNvPr id="5" name="roi-Cu"/>
          <p:cNvSpPr txBox="1"/>
          <p:nvPr/>
        </p:nvSpPr>
        <p:spPr>
          <a:xfrm>
            <a:off x="274320" y="1463040"/>
            <a:ext cx="2157984" cy="2514600"/>
          </a:xfrm>
          <a:prstGeom prst="rect">
            <a:avLst/>
          </a:prstGeom>
          <a:noFill/>
          <a:ln/>
        </p:spPr>
        <p:txBody>
          <a:bodyPr wrap="square" lIns="0" tIns="0" rIns="0" bIns="0" rtlCol="0" anchor="t"/>
          <a:lstStyle/>
          <a:p>
            <a:pPr indent="0" marL="0">
              <a:spcAft>
                <a:spcPts val="600"/>
              </a:spcAft>
              <a:buNone/>
            </a:pPr>
            <a:r>
              <a:rPr lang="en-US" sz="2800" b="1" dirty="0">
                <a:solidFill>
                  <a:srgbClr val="0E2B6D"/>
                </a:solidFill>
                <a:latin typeface="Tahoma" pitchFamily="34" charset="0"/>
                <a:ea typeface="Tahoma" pitchFamily="34" charset="-122"/>
                <a:cs typeface="Tahoma" pitchFamily="34" charset="-120"/>
              </a:rPr>
              <a:t>Cu</a:t>
            </a:r>
            <a:endParaRPr lang="en-US" sz="28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Cuneus</a:t>
            </a:r>
            <a:endParaRPr lang="en-US" sz="2800" dirty="0"/>
          </a:p>
          <a:p>
            <a:pPr marL="203200" indent="-203200">
              <a:spcAft>
                <a:spcPts val="600"/>
              </a:spcAft>
              <a:buSzPct val="100000"/>
              <a:buChar char="•"/>
            </a:pPr>
            <a:r>
              <a:rPr lang="en-US" sz="1600" dirty="0">
                <a:solidFill>
                  <a:srgbClr val="0E2B6D"/>
                </a:solidFill>
                <a:latin typeface="Tahoma" pitchFamily="34" charset="0"/>
                <a:ea typeface="Tahoma" pitchFamily="34" charset="-122"/>
                <a:cs typeface="Tahoma" pitchFamily="34" charset="-120"/>
              </a:rPr>
              <a:t>Thins in HD, but thinning is not linked to visual-task scores</a:t>
            </a:r>
            <a:endParaRPr lang="en-US" sz="2800" dirty="0"/>
          </a:p>
        </p:txBody>
      </p:sp>
      <p:sp>
        <p:nvSpPr>
          <p:cNvPr id="6" name="roi-Cu-source"/>
          <p:cNvSpPr txBox="1"/>
          <p:nvPr/>
        </p:nvSpPr>
        <p:spPr>
          <a:xfrm>
            <a:off x="274320" y="4023360"/>
            <a:ext cx="2157984" cy="365760"/>
          </a:xfrm>
          <a:prstGeom prst="rect">
            <a:avLst/>
          </a:prstGeom>
          <a:noFill/>
          <a:ln/>
        </p:spPr>
        <p:txBody>
          <a:bodyPr wrap="square" lIns="0" tIns="0" rIns="0" bIns="0" rtlCol="0" anchor="b"/>
          <a:lstStyle/>
          <a:p>
            <a:pPr indent="0" marL="0">
              <a:buNone/>
            </a:pPr>
            <a:r>
              <a:rPr lang="en-US" sz="1200" i="1" dirty="0">
                <a:solidFill>
                  <a:srgbClr val="6B7280"/>
                </a:solidFill>
                <a:latin typeface="Tahoma" pitchFamily="34" charset="0"/>
                <a:ea typeface="Tahoma" pitchFamily="34" charset="-122"/>
                <a:cs typeface="Tahoma" pitchFamily="34" charset="-120"/>
              </a:rPr>
              <a:t>Johnson 2015</a:t>
            </a:r>
            <a:endParaRPr lang="en-US" sz="1200" dirty="0"/>
          </a:p>
        </p:txBody>
      </p:sp>
      <p:sp>
        <p:nvSpPr>
          <p:cNvPr id="7" name="roi-LG"/>
          <p:cNvSpPr txBox="1"/>
          <p:nvPr/>
        </p:nvSpPr>
        <p:spPr>
          <a:xfrm>
            <a:off x="2761488" y="1463040"/>
            <a:ext cx="2020824" cy="2514600"/>
          </a:xfrm>
          <a:prstGeom prst="rect">
            <a:avLst/>
          </a:prstGeom>
          <a:noFill/>
          <a:ln/>
        </p:spPr>
        <p:txBody>
          <a:bodyPr wrap="square" lIns="0" tIns="0" rIns="0" bIns="0" rtlCol="0" anchor="t"/>
          <a:lstStyle/>
          <a:p>
            <a:pPr indent="0" marL="0">
              <a:spcAft>
                <a:spcPts val="600"/>
              </a:spcAft>
              <a:buNone/>
            </a:pPr>
            <a:r>
              <a:rPr lang="en-US" sz="2800" b="1" dirty="0">
                <a:solidFill>
                  <a:srgbClr val="0E2B6D"/>
                </a:solidFill>
                <a:latin typeface="Tahoma" pitchFamily="34" charset="0"/>
                <a:ea typeface="Tahoma" pitchFamily="34" charset="-122"/>
                <a:cs typeface="Tahoma" pitchFamily="34" charset="-120"/>
              </a:rPr>
              <a:t>LG</a:t>
            </a:r>
            <a:endParaRPr lang="en-US" sz="28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Lingual gyrus</a:t>
            </a:r>
            <a:endParaRPr lang="en-US" sz="2800" dirty="0"/>
          </a:p>
          <a:p>
            <a:pPr marL="203200" indent="-203200">
              <a:spcAft>
                <a:spcPts val="600"/>
              </a:spcAft>
              <a:buSzPct val="100000"/>
              <a:buChar char="•"/>
            </a:pPr>
            <a:r>
              <a:rPr lang="en-US" sz="1600" dirty="0">
                <a:solidFill>
                  <a:srgbClr val="0E2B6D"/>
                </a:solidFill>
                <a:latin typeface="Tahoma" pitchFamily="34" charset="0"/>
                <a:ea typeface="Tahoma" pitchFamily="34" charset="-122"/>
                <a:cs typeface="Tahoma" pitchFamily="34" charset="-120"/>
              </a:rPr>
              <a:t>Thinning tracks worse visual cognition; weaker connectivity in manifest HD</a:t>
            </a:r>
            <a:endParaRPr lang="en-US" sz="2800" dirty="0"/>
          </a:p>
        </p:txBody>
      </p:sp>
      <p:sp>
        <p:nvSpPr>
          <p:cNvPr id="8" name="roi-LG-source"/>
          <p:cNvSpPr txBox="1"/>
          <p:nvPr/>
        </p:nvSpPr>
        <p:spPr>
          <a:xfrm>
            <a:off x="2761488" y="4023360"/>
            <a:ext cx="2020824" cy="365760"/>
          </a:xfrm>
          <a:prstGeom prst="rect">
            <a:avLst/>
          </a:prstGeom>
          <a:noFill/>
          <a:ln/>
        </p:spPr>
        <p:txBody>
          <a:bodyPr wrap="square" lIns="0" tIns="0" rIns="0" bIns="0" rtlCol="0" anchor="b"/>
          <a:lstStyle/>
          <a:p>
            <a:pPr indent="0" marL="0">
              <a:buNone/>
            </a:pPr>
            <a:r>
              <a:rPr lang="en-US" sz="1200" i="1" dirty="0">
                <a:solidFill>
                  <a:srgbClr val="6B7280"/>
                </a:solidFill>
                <a:latin typeface="Tahoma" pitchFamily="34" charset="0"/>
                <a:ea typeface="Tahoma" pitchFamily="34" charset="-122"/>
                <a:cs typeface="Tahoma" pitchFamily="34" charset="-120"/>
              </a:rPr>
              <a:t>Johnson 2015; Coppen 2018</a:t>
            </a:r>
            <a:endParaRPr lang="en-US" sz="1200" dirty="0"/>
          </a:p>
        </p:txBody>
      </p:sp>
      <p:sp>
        <p:nvSpPr>
          <p:cNvPr id="9" name="roi-IOG"/>
          <p:cNvSpPr txBox="1"/>
          <p:nvPr/>
        </p:nvSpPr>
        <p:spPr>
          <a:xfrm>
            <a:off x="5084064" y="1463040"/>
            <a:ext cx="2020824" cy="2514600"/>
          </a:xfrm>
          <a:prstGeom prst="rect">
            <a:avLst/>
          </a:prstGeom>
          <a:noFill/>
          <a:ln/>
        </p:spPr>
        <p:txBody>
          <a:bodyPr wrap="square" lIns="0" tIns="0" rIns="0" bIns="0" rtlCol="0" anchor="t"/>
          <a:lstStyle/>
          <a:p>
            <a:pPr indent="0" marL="0">
              <a:spcAft>
                <a:spcPts val="600"/>
              </a:spcAft>
              <a:buNone/>
            </a:pPr>
            <a:r>
              <a:rPr lang="en-US" sz="2800" b="1" dirty="0">
                <a:solidFill>
                  <a:srgbClr val="0E2B6D"/>
                </a:solidFill>
                <a:latin typeface="Tahoma" pitchFamily="34" charset="0"/>
                <a:ea typeface="Tahoma" pitchFamily="34" charset="-122"/>
                <a:cs typeface="Tahoma" pitchFamily="34" charset="-120"/>
              </a:rPr>
              <a:t>IOG</a:t>
            </a:r>
            <a:endParaRPr lang="en-US" sz="28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Inferior occipital gyrus</a:t>
            </a:r>
            <a:endParaRPr lang="en-US" sz="2800" dirty="0"/>
          </a:p>
          <a:p>
            <a:pPr marL="203200" indent="-203200">
              <a:spcAft>
                <a:spcPts val="600"/>
              </a:spcAft>
              <a:buSzPct val="100000"/>
              <a:buChar char="•"/>
            </a:pPr>
            <a:r>
              <a:rPr lang="en-US" sz="1600" dirty="0">
                <a:solidFill>
                  <a:srgbClr val="0E2B6D"/>
                </a:solidFill>
                <a:latin typeface="Tahoma" pitchFamily="34" charset="0"/>
                <a:ea typeface="Tahoma" pitchFamily="34" charset="-122"/>
                <a:cs typeface="Tahoma" pitchFamily="34" charset="-120"/>
              </a:rPr>
              <a:t>Lateral occipital cortex: thinning tracks worse visual cognition</a:t>
            </a:r>
            <a:endParaRPr lang="en-US" sz="2800" dirty="0"/>
          </a:p>
        </p:txBody>
      </p:sp>
      <p:sp>
        <p:nvSpPr>
          <p:cNvPr id="10" name="roi-IOG-source"/>
          <p:cNvSpPr txBox="1"/>
          <p:nvPr/>
        </p:nvSpPr>
        <p:spPr>
          <a:xfrm>
            <a:off x="5084064" y="4023360"/>
            <a:ext cx="2020824" cy="365760"/>
          </a:xfrm>
          <a:prstGeom prst="rect">
            <a:avLst/>
          </a:prstGeom>
          <a:noFill/>
          <a:ln/>
        </p:spPr>
        <p:txBody>
          <a:bodyPr wrap="square" lIns="0" tIns="0" rIns="0" bIns="0" rtlCol="0" anchor="b"/>
          <a:lstStyle/>
          <a:p>
            <a:pPr indent="0" marL="0">
              <a:buNone/>
            </a:pPr>
            <a:r>
              <a:rPr lang="en-US" sz="1200" i="1" dirty="0">
                <a:solidFill>
                  <a:srgbClr val="6B7280"/>
                </a:solidFill>
                <a:latin typeface="Tahoma" pitchFamily="34" charset="0"/>
                <a:ea typeface="Tahoma" pitchFamily="34" charset="-122"/>
                <a:cs typeface="Tahoma" pitchFamily="34" charset="-120"/>
              </a:rPr>
              <a:t>Johnson 2015</a:t>
            </a:r>
            <a:endParaRPr lang="en-US" sz="1200" dirty="0"/>
          </a:p>
        </p:txBody>
      </p:sp>
      <p:sp>
        <p:nvSpPr>
          <p:cNvPr id="11" name="roi-MOG"/>
          <p:cNvSpPr txBox="1"/>
          <p:nvPr/>
        </p:nvSpPr>
        <p:spPr>
          <a:xfrm>
            <a:off x="7406640" y="1463040"/>
            <a:ext cx="2020824" cy="2514600"/>
          </a:xfrm>
          <a:prstGeom prst="rect">
            <a:avLst/>
          </a:prstGeom>
          <a:noFill/>
          <a:ln/>
        </p:spPr>
        <p:txBody>
          <a:bodyPr wrap="square" lIns="0" tIns="0" rIns="0" bIns="0" rtlCol="0" anchor="t"/>
          <a:lstStyle/>
          <a:p>
            <a:pPr indent="0" marL="0">
              <a:spcAft>
                <a:spcPts val="600"/>
              </a:spcAft>
              <a:buNone/>
            </a:pPr>
            <a:r>
              <a:rPr lang="en-US" sz="2800" b="1" dirty="0">
                <a:solidFill>
                  <a:srgbClr val="0E2B6D"/>
                </a:solidFill>
                <a:latin typeface="Tahoma" pitchFamily="34" charset="0"/>
                <a:ea typeface="Tahoma" pitchFamily="34" charset="-122"/>
                <a:cs typeface="Tahoma" pitchFamily="34" charset="-120"/>
              </a:rPr>
              <a:t>MOG</a:t>
            </a:r>
            <a:endParaRPr lang="en-US" sz="28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Middle occipital gyrus</a:t>
            </a:r>
            <a:endParaRPr lang="en-US" sz="2800" dirty="0"/>
          </a:p>
          <a:p>
            <a:pPr marL="203200" indent="-203200">
              <a:spcAft>
                <a:spcPts val="600"/>
              </a:spcAft>
              <a:buSzPct val="100000"/>
              <a:buChar char="•"/>
            </a:pPr>
            <a:r>
              <a:rPr lang="en-US" sz="1600" dirty="0">
                <a:solidFill>
                  <a:srgbClr val="0E2B6D"/>
                </a:solidFill>
                <a:latin typeface="Tahoma" pitchFamily="34" charset="0"/>
                <a:ea typeface="Tahoma" pitchFamily="34" charset="-122"/>
                <a:cs typeface="Tahoma" pitchFamily="34" charset="-120"/>
              </a:rPr>
              <a:t>Also lateral occipital; occipital cortex atrophies fastest over 10 years</a:t>
            </a:r>
            <a:endParaRPr lang="en-US" sz="2800" dirty="0"/>
          </a:p>
        </p:txBody>
      </p:sp>
      <p:sp>
        <p:nvSpPr>
          <p:cNvPr id="12" name="roi-MOG-source"/>
          <p:cNvSpPr txBox="1"/>
          <p:nvPr/>
        </p:nvSpPr>
        <p:spPr>
          <a:xfrm>
            <a:off x="7406640" y="4023360"/>
            <a:ext cx="2020824" cy="365760"/>
          </a:xfrm>
          <a:prstGeom prst="rect">
            <a:avLst/>
          </a:prstGeom>
          <a:noFill/>
          <a:ln/>
        </p:spPr>
        <p:txBody>
          <a:bodyPr wrap="square" lIns="0" tIns="0" rIns="0" bIns="0" rtlCol="0" anchor="b"/>
          <a:lstStyle/>
          <a:p>
            <a:pPr indent="0" marL="0">
              <a:buNone/>
            </a:pPr>
            <a:r>
              <a:rPr lang="en-US" sz="1200" i="1" dirty="0">
                <a:solidFill>
                  <a:srgbClr val="6B7280"/>
                </a:solidFill>
                <a:latin typeface="Tahoma" pitchFamily="34" charset="0"/>
                <a:ea typeface="Tahoma" pitchFamily="34" charset="-122"/>
                <a:cs typeface="Tahoma" pitchFamily="34" charset="-120"/>
              </a:rPr>
              <a:t>Johnson 2015; 2021</a:t>
            </a:r>
            <a:endParaRPr lang="en-US" sz="1200" dirty="0"/>
          </a:p>
        </p:txBody>
      </p:sp>
      <p:sp>
        <p:nvSpPr>
          <p:cNvPr id="13" name="roi-SOG"/>
          <p:cNvSpPr txBox="1"/>
          <p:nvPr/>
        </p:nvSpPr>
        <p:spPr>
          <a:xfrm>
            <a:off x="9729216" y="1463040"/>
            <a:ext cx="2020824" cy="2514600"/>
          </a:xfrm>
          <a:prstGeom prst="rect">
            <a:avLst/>
          </a:prstGeom>
          <a:noFill/>
          <a:ln/>
        </p:spPr>
        <p:txBody>
          <a:bodyPr wrap="square" lIns="0" tIns="0" rIns="0" bIns="0" rtlCol="0" anchor="t"/>
          <a:lstStyle/>
          <a:p>
            <a:pPr indent="0" marL="0">
              <a:spcAft>
                <a:spcPts val="600"/>
              </a:spcAft>
              <a:buNone/>
            </a:pPr>
            <a:r>
              <a:rPr lang="en-US" sz="2800" b="1" dirty="0">
                <a:solidFill>
                  <a:srgbClr val="0E2B6D"/>
                </a:solidFill>
                <a:latin typeface="Tahoma" pitchFamily="34" charset="0"/>
                <a:ea typeface="Tahoma" pitchFamily="34" charset="-122"/>
                <a:cs typeface="Tahoma" pitchFamily="34" charset="-120"/>
              </a:rPr>
              <a:t>SOG</a:t>
            </a:r>
            <a:endParaRPr lang="en-US" sz="28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Superior occipital gyrus</a:t>
            </a:r>
            <a:endParaRPr lang="en-US" sz="2800" dirty="0"/>
          </a:p>
          <a:p>
            <a:pPr marL="203200" indent="-203200">
              <a:spcAft>
                <a:spcPts val="600"/>
              </a:spcAft>
              <a:buSzPct val="100000"/>
              <a:buChar char="•"/>
            </a:pPr>
            <a:r>
              <a:rPr lang="en-US" sz="1600" dirty="0">
                <a:solidFill>
                  <a:srgbClr val="0E2B6D"/>
                </a:solidFill>
                <a:latin typeface="Tahoma" pitchFamily="34" charset="0"/>
                <a:ea typeface="Tahoma" pitchFamily="34" charset="-122"/>
                <a:cs typeface="Tahoma" pitchFamily="34" charset="-120"/>
              </a:rPr>
              <a:t>Dorsal-stream zone: posterior volume tracks visual search and mental rotation</a:t>
            </a:r>
            <a:endParaRPr lang="en-US" sz="2800" dirty="0"/>
          </a:p>
        </p:txBody>
      </p:sp>
      <p:sp>
        <p:nvSpPr>
          <p:cNvPr id="14" name="roi-SOG-source"/>
          <p:cNvSpPr txBox="1"/>
          <p:nvPr/>
        </p:nvSpPr>
        <p:spPr>
          <a:xfrm>
            <a:off x="9729216" y="4023360"/>
            <a:ext cx="2020824" cy="365760"/>
          </a:xfrm>
          <a:prstGeom prst="rect">
            <a:avLst/>
          </a:prstGeom>
          <a:noFill/>
          <a:ln/>
        </p:spPr>
        <p:txBody>
          <a:bodyPr wrap="square" lIns="0" tIns="0" rIns="0" bIns="0" rtlCol="0" anchor="b"/>
          <a:lstStyle/>
          <a:p>
            <a:pPr indent="0" marL="0">
              <a:buNone/>
            </a:pPr>
            <a:r>
              <a:rPr lang="en-US" sz="1200" i="1" dirty="0">
                <a:solidFill>
                  <a:srgbClr val="6B7280"/>
                </a:solidFill>
                <a:latin typeface="Tahoma" pitchFamily="34" charset="0"/>
                <a:ea typeface="Tahoma" pitchFamily="34" charset="-122"/>
                <a:cs typeface="Tahoma" pitchFamily="34" charset="-120"/>
              </a:rPr>
              <a:t>Labuschagne 2016</a:t>
            </a:r>
            <a:endParaRPr lang="en-US" sz="1200" dirty="0"/>
          </a:p>
        </p:txBody>
      </p:sp>
      <p:sp>
        <p:nvSpPr>
          <p:cNvPr id="15" name="col-rule-1"/>
          <p:cNvSpPr/>
          <p:nvPr/>
        </p:nvSpPr>
        <p:spPr>
          <a:xfrm>
            <a:off x="2596896" y="1435608"/>
            <a:ext cx="0" cy="2971800"/>
          </a:xfrm>
          <a:prstGeom prst="line">
            <a:avLst/>
          </a:prstGeom>
          <a:noFill/>
          <a:ln w="9525">
            <a:solidFill>
              <a:srgbClr val="6095DA"/>
            </a:solidFill>
            <a:prstDash val="sysDot"/>
          </a:ln>
        </p:spPr>
      </p:sp>
      <p:sp>
        <p:nvSpPr>
          <p:cNvPr id="16" name="col-rule-2"/>
          <p:cNvSpPr/>
          <p:nvPr/>
        </p:nvSpPr>
        <p:spPr>
          <a:xfrm>
            <a:off x="4919472" y="1435608"/>
            <a:ext cx="0" cy="2971800"/>
          </a:xfrm>
          <a:prstGeom prst="line">
            <a:avLst/>
          </a:prstGeom>
          <a:noFill/>
          <a:ln w="9525">
            <a:solidFill>
              <a:srgbClr val="6095DA"/>
            </a:solidFill>
            <a:prstDash val="sysDot"/>
          </a:ln>
        </p:spPr>
      </p:sp>
      <p:sp>
        <p:nvSpPr>
          <p:cNvPr id="17" name="col-rule-3"/>
          <p:cNvSpPr/>
          <p:nvPr/>
        </p:nvSpPr>
        <p:spPr>
          <a:xfrm>
            <a:off x="7242048" y="1435608"/>
            <a:ext cx="0" cy="2971800"/>
          </a:xfrm>
          <a:prstGeom prst="line">
            <a:avLst/>
          </a:prstGeom>
          <a:noFill/>
          <a:ln w="9525">
            <a:solidFill>
              <a:srgbClr val="6095DA"/>
            </a:solidFill>
            <a:prstDash val="sysDot"/>
          </a:ln>
        </p:spPr>
      </p:sp>
      <p:sp>
        <p:nvSpPr>
          <p:cNvPr id="18" name="col-rule-4"/>
          <p:cNvSpPr/>
          <p:nvPr/>
        </p:nvSpPr>
        <p:spPr>
          <a:xfrm>
            <a:off x="9564624" y="1435608"/>
            <a:ext cx="0" cy="2971800"/>
          </a:xfrm>
          <a:prstGeom prst="line">
            <a:avLst/>
          </a:prstGeom>
          <a:noFill/>
          <a:ln w="9525">
            <a:solidFill>
              <a:srgbClr val="6095DA"/>
            </a:solidFill>
            <a:prstDash val="sysDot"/>
          </a:ln>
        </p:spPr>
      </p:sp>
      <p:sp>
        <p:nvSpPr>
          <p:cNvPr id="19" name="hyp-rule"/>
          <p:cNvSpPr/>
          <p:nvPr/>
        </p:nvSpPr>
        <p:spPr>
          <a:xfrm>
            <a:off x="274320" y="4754880"/>
            <a:ext cx="11612880" cy="0"/>
          </a:xfrm>
          <a:prstGeom prst="line">
            <a:avLst/>
          </a:prstGeom>
          <a:noFill/>
          <a:ln w="12700">
            <a:solidFill>
              <a:srgbClr val="6095DA"/>
            </a:solidFill>
            <a:prstDash val="solid"/>
          </a:ln>
        </p:spPr>
      </p:sp>
      <p:sp>
        <p:nvSpPr>
          <p:cNvPr id="20" name="hypothesis"/>
          <p:cNvSpPr txBox="1"/>
          <p:nvPr/>
        </p:nvSpPr>
        <p:spPr>
          <a:xfrm>
            <a:off x="274320" y="4892040"/>
            <a:ext cx="11155680" cy="914400"/>
          </a:xfrm>
          <a:prstGeom prst="rect">
            <a:avLst/>
          </a:prstGeom>
          <a:noFill/>
          <a:ln/>
        </p:spPr>
        <p:txBody>
          <a:bodyPr wrap="square" lIns="0" tIns="0" rIns="0" bIns="0" rtlCol="0" anchor="t"/>
          <a:lstStyle/>
          <a:p>
            <a:pPr indent="0" marL="0">
              <a:buNone/>
            </a:pPr>
            <a:r>
              <a:rPr lang="en-US" sz="2000" b="1" dirty="0">
                <a:solidFill>
                  <a:srgbClr val="0E2B6D"/>
                </a:solidFill>
                <a:latin typeface="Tahoma" pitchFamily="34" charset="0"/>
                <a:ea typeface="Tahoma" pitchFamily="34" charset="-122"/>
                <a:cs typeface="Tahoma" pitchFamily="34" charset="-120"/>
              </a:rPr>
              <a:t>Hypothesis for Task 4: </a:t>
            </a:r>
            <a:pPr indent="0" marL="0">
              <a:buNone/>
            </a:pPr>
            <a:r>
              <a:rPr lang="en-US" sz="2000" dirty="0">
                <a:solidFill>
                  <a:srgbClr val="0E2B6D"/>
                </a:solidFill>
                <a:latin typeface="Tahoma" pitchFamily="34" charset="0"/>
                <a:ea typeface="Tahoma" pitchFamily="34" charset="-122"/>
                <a:cs typeface="Tahoma" pitchFamily="34" charset="-120"/>
              </a:rPr>
              <a:t>HD subjects have smaller volumes than controls in all 10 occipital ROIs, left and right, with the lingual and lateral occipital gyri (IOG, MOG) most tied to symptoms.</a:t>
            </a:r>
            <a:endParaRPr lang="en-US" sz="2000" dirty="0"/>
          </a:p>
        </p:txBody>
      </p:sp>
      <p:sp>
        <p:nvSpPr>
          <p:cNvPr id="21" name="source"/>
          <p:cNvSpPr txBox="1"/>
          <p:nvPr/>
        </p:nvSpPr>
        <p:spPr>
          <a:xfrm>
            <a:off x="274320" y="6263640"/>
            <a:ext cx="10058400" cy="274320"/>
          </a:xfrm>
          <a:prstGeom prst="rect">
            <a:avLst/>
          </a:prstGeom>
          <a:noFill/>
          <a:ln/>
        </p:spPr>
        <p:txBody>
          <a:bodyPr wrap="square" lIns="0" tIns="0" rIns="0" bIns="0" rtlCol="0" anchor="ctr"/>
          <a:lstStyle/>
          <a:p>
            <a:pPr indent="0" marL="0">
              <a:buNone/>
            </a:pPr>
            <a:r>
              <a:rPr lang="en-US" sz="1100" dirty="0">
                <a:solidFill>
                  <a:srgbClr val="6B7280"/>
                </a:solidFill>
                <a:latin typeface="Tahoma" pitchFamily="34" charset="0"/>
                <a:ea typeface="Tahoma" pitchFamily="34" charset="-122"/>
                <a:cs typeface="Tahoma" pitchFamily="34" charset="-120"/>
              </a:rPr>
              <a:t>FreeSurfer “lateral occipital” ≈ our IOG, MOG and part of SOG; calcarine V1 is split between our Cu and LG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2026-10-17T18:56:12Z</dcterms:created>
  <dcterms:modified xsi:type="dcterms:W3CDTF">2026-10-17T18:56:12Z</dcterms:modified>
</cp:coreProperties>
</file>