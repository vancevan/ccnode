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consistently puts the occipital lobe early in the disease. Rosas showed that cortical thinning moves from posterior to anterior, with occipital thinning already present in stage one and two patients. Post-mortem counts confirm neuron loss across the cortex, though studies disagree about the primary visual cortex itself. In TRACK-HD, the study our data come from, Johnson found occipital thinning even before symptoms, and it predicted worse visual-test scores. Over ten years, the occipital and parietal cortex atrophied fastest of any cortical region. (About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274320" y="73152"/>
            <a:ext cx="11612880" cy="566928"/>
          </a:xfrm>
          <a:prstGeom prst="rect">
            <a:avLst/>
          </a:prstGeom>
          <a:noFill/>
          <a:ln/>
        </p:spPr>
        <p:txBody>
          <a:bodyPr wrap="square" lIns="0" tIns="0" rIns="0" bIns="0" rtlCol="0" anchor="b"/>
          <a:lstStyle/>
          <a:p>
            <a:pPr indent="0" marL="0">
              <a:buNone/>
            </a:pPr>
            <a:r>
              <a:rPr lang="en-US" sz="4000" b="1" dirty="0">
                <a:solidFill>
                  <a:srgbClr val="0E2B6D"/>
                </a:solidFill>
                <a:latin typeface="Tahoma" pitchFamily="34" charset="0"/>
                <a:ea typeface="Tahoma" pitchFamily="34" charset="-122"/>
                <a:cs typeface="Tahoma" pitchFamily="34" charset="-120"/>
              </a:rPr>
              <a:t>Studies place the occipital lobe early in HD</a:t>
            </a:r>
            <a:endParaRPr lang="en-US" sz="4000" dirty="0"/>
          </a:p>
        </p:txBody>
      </p:sp>
      <p:sp>
        <p:nvSpPr>
          <p:cNvPr id="3" name="title-rule"/>
          <p:cNvSpPr/>
          <p:nvPr/>
        </p:nvSpPr>
        <p:spPr>
          <a:xfrm>
            <a:off x="182880" y="667512"/>
            <a:ext cx="11768328" cy="0"/>
          </a:xfrm>
          <a:prstGeom prst="line">
            <a:avLst/>
          </a:prstGeom>
          <a:noFill/>
          <a:ln w="12700">
            <a:solidFill>
              <a:srgbClr val="6095DA"/>
            </a:solidFill>
            <a:prstDash val="solid"/>
          </a:ln>
        </p:spPr>
      </p:sp>
      <p:sp>
        <p:nvSpPr>
          <p:cNvPr id="4" name="intro"/>
          <p:cNvSpPr txBox="1"/>
          <p:nvPr/>
        </p:nvSpPr>
        <p:spPr>
          <a:xfrm>
            <a:off x="274320" y="841248"/>
            <a:ext cx="11612880" cy="411480"/>
          </a:xfrm>
          <a:prstGeom prst="rect">
            <a:avLst/>
          </a:prstGeom>
          <a:noFill/>
          <a:ln/>
        </p:spPr>
        <p:txBody>
          <a:bodyPr wrap="square" lIns="0" tIns="0" rIns="0" bIns="0" rtlCol="0" anchor="ctr"/>
          <a:lstStyle/>
          <a:p>
            <a:pPr indent="0" marL="0">
              <a:buNone/>
            </a:pPr>
            <a:r>
              <a:rPr lang="en-US" sz="2200" dirty="0">
                <a:solidFill>
                  <a:srgbClr val="306FC7"/>
                </a:solidFill>
                <a:latin typeface="Tahoma" pitchFamily="34" charset="0"/>
                <a:ea typeface="Tahoma" pitchFamily="34" charset="-122"/>
                <a:cs typeface="Tahoma" pitchFamily="34" charset="-120"/>
              </a:rPr>
              <a:t>Imaging, post-mortem and cognitive studies all point to early occipital involvement</a:t>
            </a:r>
            <a:endParaRPr lang="en-US" sz="2200" dirty="0"/>
          </a:p>
        </p:txBody>
      </p:sp>
      <p:sp>
        <p:nvSpPr>
          <p:cNvPr id="5" name="study-0"/>
          <p:cNvSpPr txBox="1"/>
          <p:nvPr/>
        </p:nvSpPr>
        <p:spPr>
          <a:xfrm>
            <a:off x="274320" y="1463040"/>
            <a:ext cx="3642360" cy="2194560"/>
          </a:xfrm>
          <a:prstGeom prst="rect">
            <a:avLst/>
          </a:prstGeom>
          <a:noFill/>
          <a:ln/>
        </p:spPr>
        <p:txBody>
          <a:bodyPr wrap="square" lIns="0" tIns="0" rIns="0" bIns="0" rtlCol="0" anchor="t"/>
          <a:lstStyle/>
          <a:p>
            <a:pPr indent="0" marL="0">
              <a:spcAft>
                <a:spcPts val="600"/>
              </a:spcAft>
              <a:buNone/>
            </a:pPr>
            <a:r>
              <a:rPr lang="en-US" sz="2000" b="1" dirty="0">
                <a:solidFill>
                  <a:srgbClr val="0E2B6D"/>
                </a:solidFill>
                <a:latin typeface="Tahoma" pitchFamily="34" charset="0"/>
                <a:ea typeface="Tahoma" pitchFamily="34" charset="-122"/>
                <a:cs typeface="Tahoma" pitchFamily="34" charset="-120"/>
              </a:rPr>
              <a:t>2002 · Rosas et al.</a:t>
            </a:r>
            <a:endParaRPr lang="en-US" sz="2000" dirty="0"/>
          </a:p>
          <a:p>
            <a:pPr indent="0" marL="0">
              <a:spcAft>
                <a:spcPts val="600"/>
              </a:spcAft>
              <a:buNone/>
            </a:pPr>
            <a:r>
              <a:rPr lang="en-US" sz="1400" dirty="0">
                <a:solidFill>
                  <a:srgbClr val="306FC7"/>
                </a:solidFill>
                <a:latin typeface="Tahoma" pitchFamily="34" charset="0"/>
                <a:ea typeface="Tahoma" pitchFamily="34" charset="-122"/>
                <a:cs typeface="Tahoma" pitchFamily="34" charset="-120"/>
              </a:rPr>
              <a:t>MRI cortical thickness</a:t>
            </a:r>
            <a:endParaRPr lang="en-US" sz="2000" dirty="0"/>
          </a:p>
          <a:p>
            <a:pPr marL="228600" indent="-228600">
              <a:spcAft>
                <a:spcPts val="600"/>
              </a:spcAft>
              <a:buSzPct val="100000"/>
              <a:buChar char="•"/>
            </a:pPr>
            <a:r>
              <a:rPr lang="en-US" sz="1800" dirty="0">
                <a:solidFill>
                  <a:srgbClr val="0E2B6D"/>
                </a:solidFill>
                <a:latin typeface="Tahoma" pitchFamily="34" charset="0"/>
                <a:ea typeface="Tahoma" pitchFamily="34" charset="-122"/>
                <a:cs typeface="Tahoma" pitchFamily="34" charset="-120"/>
              </a:rPr>
              <a:t>Cortex thins early, spreading from posterior to anterior regions</a:t>
            </a:r>
            <a:endParaRPr lang="en-US" sz="2000" dirty="0"/>
          </a:p>
        </p:txBody>
      </p:sp>
      <p:sp>
        <p:nvSpPr>
          <p:cNvPr id="6" name="study-1"/>
          <p:cNvSpPr txBox="1"/>
          <p:nvPr/>
        </p:nvSpPr>
        <p:spPr>
          <a:xfrm>
            <a:off x="4373880" y="1463040"/>
            <a:ext cx="3459480" cy="2194560"/>
          </a:xfrm>
          <a:prstGeom prst="rect">
            <a:avLst/>
          </a:prstGeom>
          <a:noFill/>
          <a:ln/>
        </p:spPr>
        <p:txBody>
          <a:bodyPr wrap="square" lIns="0" tIns="0" rIns="0" bIns="0" rtlCol="0" anchor="t"/>
          <a:lstStyle/>
          <a:p>
            <a:pPr indent="0" marL="0">
              <a:spcAft>
                <a:spcPts val="600"/>
              </a:spcAft>
              <a:buNone/>
            </a:pPr>
            <a:r>
              <a:rPr lang="en-US" sz="2000" b="1" dirty="0">
                <a:solidFill>
                  <a:srgbClr val="0E2B6D"/>
                </a:solidFill>
                <a:latin typeface="Tahoma" pitchFamily="34" charset="0"/>
                <a:ea typeface="Tahoma" pitchFamily="34" charset="-122"/>
                <a:cs typeface="Tahoma" pitchFamily="34" charset="-120"/>
              </a:rPr>
              <a:t>2008 · Rosas et al.</a:t>
            </a:r>
            <a:endParaRPr lang="en-US" sz="2000" dirty="0"/>
          </a:p>
          <a:p>
            <a:pPr indent="0" marL="0">
              <a:spcAft>
                <a:spcPts val="600"/>
              </a:spcAft>
              <a:buNone/>
            </a:pPr>
            <a:r>
              <a:rPr lang="en-US" sz="1400" dirty="0">
                <a:solidFill>
                  <a:srgbClr val="306FC7"/>
                </a:solidFill>
                <a:latin typeface="Tahoma" pitchFamily="34" charset="0"/>
                <a:ea typeface="Tahoma" pitchFamily="34" charset="-122"/>
                <a:cs typeface="Tahoma" pitchFamily="34" charset="-120"/>
              </a:rPr>
              <a:t>MRI, stage I–II patients</a:t>
            </a:r>
            <a:endParaRPr lang="en-US" sz="2000" dirty="0"/>
          </a:p>
          <a:p>
            <a:pPr marL="228600" indent="-228600">
              <a:spcAft>
                <a:spcPts val="600"/>
              </a:spcAft>
              <a:buSzPct val="100000"/>
              <a:buChar char="•"/>
            </a:pPr>
            <a:r>
              <a:rPr lang="en-US" sz="1800" dirty="0">
                <a:solidFill>
                  <a:srgbClr val="0E2B6D"/>
                </a:solidFill>
                <a:latin typeface="Tahoma" pitchFamily="34" charset="0"/>
                <a:ea typeface="Tahoma" pitchFamily="34" charset="-122"/>
                <a:cs typeface="Tahoma" pitchFamily="34" charset="-120"/>
              </a:rPr>
              <a:t>Occipital and sensorimotor cortex already thin; anterior frontal spared</a:t>
            </a:r>
            <a:endParaRPr lang="en-US" sz="2000" dirty="0"/>
          </a:p>
        </p:txBody>
      </p:sp>
      <p:sp>
        <p:nvSpPr>
          <p:cNvPr id="7" name="study-2"/>
          <p:cNvSpPr txBox="1"/>
          <p:nvPr/>
        </p:nvSpPr>
        <p:spPr>
          <a:xfrm>
            <a:off x="8244840" y="1463040"/>
            <a:ext cx="3459480" cy="2194560"/>
          </a:xfrm>
          <a:prstGeom prst="rect">
            <a:avLst/>
          </a:prstGeom>
          <a:noFill/>
          <a:ln/>
        </p:spPr>
        <p:txBody>
          <a:bodyPr wrap="square" lIns="0" tIns="0" rIns="0" bIns="0" rtlCol="0" anchor="t"/>
          <a:lstStyle/>
          <a:p>
            <a:pPr indent="0" marL="0">
              <a:spcAft>
                <a:spcPts val="600"/>
              </a:spcAft>
              <a:buNone/>
            </a:pPr>
            <a:r>
              <a:rPr lang="en-US" sz="2000" b="1" dirty="0">
                <a:solidFill>
                  <a:srgbClr val="0E2B6D"/>
                </a:solidFill>
                <a:latin typeface="Tahoma" pitchFamily="34" charset="0"/>
                <a:ea typeface="Tahoma" pitchFamily="34" charset="-122"/>
                <a:cs typeface="Tahoma" pitchFamily="34" charset="-120"/>
              </a:rPr>
              <a:t>2014–15 · Nana; Rüb</a:t>
            </a:r>
            <a:endParaRPr lang="en-US" sz="2000" dirty="0"/>
          </a:p>
          <a:p>
            <a:pPr indent="0" marL="0">
              <a:spcAft>
                <a:spcPts val="600"/>
              </a:spcAft>
              <a:buNone/>
            </a:pPr>
            <a:r>
              <a:rPr lang="en-US" sz="1400" dirty="0">
                <a:solidFill>
                  <a:srgbClr val="306FC7"/>
                </a:solidFill>
                <a:latin typeface="Tahoma" pitchFamily="34" charset="0"/>
                <a:ea typeface="Tahoma" pitchFamily="34" charset="-122"/>
                <a:cs typeface="Tahoma" pitchFamily="34" charset="-120"/>
              </a:rPr>
              <a:t>Post-mortem neuron counts</a:t>
            </a:r>
            <a:endParaRPr lang="en-US" sz="2000" dirty="0"/>
          </a:p>
          <a:p>
            <a:pPr marL="228600" indent="-228600">
              <a:spcAft>
                <a:spcPts val="600"/>
              </a:spcAft>
              <a:buSzPct val="100000"/>
              <a:buChar char="•"/>
            </a:pPr>
            <a:r>
              <a:rPr lang="en-US" sz="1800" dirty="0">
                <a:solidFill>
                  <a:srgbClr val="0E2B6D"/>
                </a:solidFill>
                <a:latin typeface="Tahoma" pitchFamily="34" charset="0"/>
                <a:ea typeface="Tahoma" pitchFamily="34" charset="-122"/>
                <a:cs typeface="Tahoma" pitchFamily="34" charset="-120"/>
              </a:rPr>
              <a:t>Neurons lost across the cortex; evidence on primary visual cortex conflicts (spared vs −32%)</a:t>
            </a:r>
            <a:endParaRPr lang="en-US" sz="2000" dirty="0"/>
          </a:p>
        </p:txBody>
      </p:sp>
      <p:sp>
        <p:nvSpPr>
          <p:cNvPr id="8" name="study-3"/>
          <p:cNvSpPr txBox="1"/>
          <p:nvPr/>
        </p:nvSpPr>
        <p:spPr>
          <a:xfrm>
            <a:off x="274320" y="3840480"/>
            <a:ext cx="3642360" cy="2194560"/>
          </a:xfrm>
          <a:prstGeom prst="rect">
            <a:avLst/>
          </a:prstGeom>
          <a:noFill/>
          <a:ln/>
        </p:spPr>
        <p:txBody>
          <a:bodyPr wrap="square" lIns="0" tIns="0" rIns="0" bIns="0" rtlCol="0" anchor="t"/>
          <a:lstStyle/>
          <a:p>
            <a:pPr indent="0" marL="0">
              <a:spcAft>
                <a:spcPts val="600"/>
              </a:spcAft>
              <a:buNone/>
            </a:pPr>
            <a:r>
              <a:rPr lang="en-US" sz="2000" b="1" dirty="0">
                <a:solidFill>
                  <a:srgbClr val="0E2B6D"/>
                </a:solidFill>
                <a:latin typeface="Tahoma" pitchFamily="34" charset="0"/>
                <a:ea typeface="Tahoma" pitchFamily="34" charset="-122"/>
                <a:cs typeface="Tahoma" pitchFamily="34" charset="-120"/>
              </a:rPr>
              <a:t>2015 · Johnson et al.</a:t>
            </a:r>
            <a:endParaRPr lang="en-US" sz="2000" dirty="0"/>
          </a:p>
          <a:p>
            <a:pPr indent="0" marL="0">
              <a:spcAft>
                <a:spcPts val="600"/>
              </a:spcAft>
              <a:buNone/>
            </a:pPr>
            <a:r>
              <a:rPr lang="en-US" sz="1400" b="1" dirty="0">
                <a:solidFill>
                  <a:srgbClr val="306FC7"/>
                </a:solidFill>
                <a:latin typeface="Tahoma" pitchFamily="34" charset="0"/>
                <a:ea typeface="Tahoma" pitchFamily="34" charset="-122"/>
                <a:cs typeface="Tahoma" pitchFamily="34" charset="-120"/>
              </a:rPr>
              <a:t>TRACK-HD MRI, n = 275 (same study as our data)</a:t>
            </a:r>
            <a:endParaRPr lang="en-US" sz="2000" dirty="0"/>
          </a:p>
          <a:p>
            <a:pPr marL="228600" indent="-228600">
              <a:spcAft>
                <a:spcPts val="600"/>
              </a:spcAft>
              <a:buSzPct val="100000"/>
              <a:buChar char="•"/>
            </a:pPr>
            <a:r>
              <a:rPr lang="en-US" sz="1800" dirty="0">
                <a:solidFill>
                  <a:srgbClr val="0E2B6D"/>
                </a:solidFill>
                <a:latin typeface="Tahoma" pitchFamily="34" charset="0"/>
                <a:ea typeface="Tahoma" pitchFamily="34" charset="-122"/>
                <a:cs typeface="Tahoma" pitchFamily="34" charset="-120"/>
              </a:rPr>
              <a:t>Occipital thinning even before symptoms; tracks worse visual-test scores</a:t>
            </a:r>
            <a:endParaRPr lang="en-US" sz="2000" dirty="0"/>
          </a:p>
        </p:txBody>
      </p:sp>
      <p:sp>
        <p:nvSpPr>
          <p:cNvPr id="9" name="study-4"/>
          <p:cNvSpPr txBox="1"/>
          <p:nvPr/>
        </p:nvSpPr>
        <p:spPr>
          <a:xfrm>
            <a:off x="4373880" y="3840480"/>
            <a:ext cx="3459480" cy="2194560"/>
          </a:xfrm>
          <a:prstGeom prst="rect">
            <a:avLst/>
          </a:prstGeom>
          <a:noFill/>
          <a:ln/>
        </p:spPr>
        <p:txBody>
          <a:bodyPr wrap="square" lIns="0" tIns="0" rIns="0" bIns="0" rtlCol="0" anchor="t"/>
          <a:lstStyle/>
          <a:p>
            <a:pPr indent="0" marL="0">
              <a:spcAft>
                <a:spcPts val="600"/>
              </a:spcAft>
              <a:buNone/>
            </a:pPr>
            <a:r>
              <a:rPr lang="en-US" sz="2000" b="1" dirty="0">
                <a:solidFill>
                  <a:srgbClr val="0E2B6D"/>
                </a:solidFill>
                <a:latin typeface="Tahoma" pitchFamily="34" charset="0"/>
                <a:ea typeface="Tahoma" pitchFamily="34" charset="-122"/>
                <a:cs typeface="Tahoma" pitchFamily="34" charset="-120"/>
              </a:rPr>
              <a:t>2016 · Labuschagne et al.</a:t>
            </a:r>
            <a:endParaRPr lang="en-US" sz="2000" dirty="0"/>
          </a:p>
          <a:p>
            <a:pPr indent="0" marL="0">
              <a:spcAft>
                <a:spcPts val="600"/>
              </a:spcAft>
              <a:buNone/>
            </a:pPr>
            <a:r>
              <a:rPr lang="en-US" sz="1400" dirty="0">
                <a:solidFill>
                  <a:srgbClr val="306FC7"/>
                </a:solidFill>
                <a:latin typeface="Tahoma" pitchFamily="34" charset="0"/>
                <a:ea typeface="Tahoma" pitchFamily="34" charset="-122"/>
                <a:cs typeface="Tahoma" pitchFamily="34" charset="-120"/>
              </a:rPr>
              <a:t>MRI + visual cognition</a:t>
            </a:r>
            <a:endParaRPr lang="en-US" sz="2000" dirty="0"/>
          </a:p>
          <a:p>
            <a:pPr marL="228600" indent="-228600">
              <a:spcAft>
                <a:spcPts val="600"/>
              </a:spcAft>
              <a:buSzPct val="100000"/>
              <a:buChar char="•"/>
            </a:pPr>
            <a:r>
              <a:rPr lang="en-US" sz="1800" dirty="0">
                <a:solidFill>
                  <a:srgbClr val="0E2B6D"/>
                </a:solidFill>
                <a:latin typeface="Tahoma" pitchFamily="34" charset="0"/>
                <a:ea typeface="Tahoma" pitchFamily="34" charset="-122"/>
                <a:cs typeface="Tahoma" pitchFamily="34" charset="-120"/>
              </a:rPr>
              <a:t>Visual search and mental rotation track parietal and occipital volume</a:t>
            </a:r>
            <a:endParaRPr lang="en-US" sz="2000" dirty="0"/>
          </a:p>
        </p:txBody>
      </p:sp>
      <p:sp>
        <p:nvSpPr>
          <p:cNvPr id="10" name="study-5"/>
          <p:cNvSpPr txBox="1"/>
          <p:nvPr/>
        </p:nvSpPr>
        <p:spPr>
          <a:xfrm>
            <a:off x="8244840" y="3840480"/>
            <a:ext cx="3459480" cy="2194560"/>
          </a:xfrm>
          <a:prstGeom prst="rect">
            <a:avLst/>
          </a:prstGeom>
          <a:noFill/>
          <a:ln/>
        </p:spPr>
        <p:txBody>
          <a:bodyPr wrap="square" lIns="0" tIns="0" rIns="0" bIns="0" rtlCol="0" anchor="t"/>
          <a:lstStyle/>
          <a:p>
            <a:pPr indent="0" marL="0">
              <a:spcAft>
                <a:spcPts val="600"/>
              </a:spcAft>
              <a:buNone/>
            </a:pPr>
            <a:r>
              <a:rPr lang="en-US" sz="2000" b="1" dirty="0">
                <a:solidFill>
                  <a:srgbClr val="0E2B6D"/>
                </a:solidFill>
                <a:latin typeface="Tahoma" pitchFamily="34" charset="0"/>
                <a:ea typeface="Tahoma" pitchFamily="34" charset="-122"/>
                <a:cs typeface="Tahoma" pitchFamily="34" charset="-120"/>
              </a:rPr>
              <a:t>2021 · Johnson et al.</a:t>
            </a:r>
            <a:endParaRPr lang="en-US" sz="2000" dirty="0"/>
          </a:p>
          <a:p>
            <a:pPr indent="0" marL="0">
              <a:spcAft>
                <a:spcPts val="600"/>
              </a:spcAft>
              <a:buNone/>
            </a:pPr>
            <a:r>
              <a:rPr lang="en-US" sz="1400" dirty="0">
                <a:solidFill>
                  <a:srgbClr val="306FC7"/>
                </a:solidFill>
                <a:latin typeface="Tahoma" pitchFamily="34" charset="0"/>
                <a:ea typeface="Tahoma" pitchFamily="34" charset="-122"/>
                <a:cs typeface="Tahoma" pitchFamily="34" charset="-120"/>
              </a:rPr>
              <a:t>10-year longitudinal MRI</a:t>
            </a:r>
            <a:endParaRPr lang="en-US" sz="2000" dirty="0"/>
          </a:p>
          <a:p>
            <a:pPr marL="228600" indent="-228600">
              <a:spcAft>
                <a:spcPts val="600"/>
              </a:spcAft>
              <a:buSzPct val="100000"/>
              <a:buChar char="•"/>
            </a:pPr>
            <a:r>
              <a:rPr lang="en-US" sz="1800" dirty="0">
                <a:solidFill>
                  <a:srgbClr val="0E2B6D"/>
                </a:solidFill>
                <a:latin typeface="Tahoma" pitchFamily="34" charset="0"/>
                <a:ea typeface="Tahoma" pitchFamily="34" charset="-122"/>
                <a:cs typeface="Tahoma" pitchFamily="34" charset="-120"/>
              </a:rPr>
              <a:t>Occipital and parietal cortex atrophy fastest of all cortical regions</a:t>
            </a:r>
            <a:endParaRPr lang="en-US" sz="2000" dirty="0"/>
          </a:p>
        </p:txBody>
      </p:sp>
      <p:sp>
        <p:nvSpPr>
          <p:cNvPr id="11" name="col-rule-1"/>
          <p:cNvSpPr/>
          <p:nvPr/>
        </p:nvSpPr>
        <p:spPr>
          <a:xfrm>
            <a:off x="4145280" y="1435608"/>
            <a:ext cx="0" cy="4663440"/>
          </a:xfrm>
          <a:prstGeom prst="line">
            <a:avLst/>
          </a:prstGeom>
          <a:noFill/>
          <a:ln w="9525">
            <a:solidFill>
              <a:srgbClr val="6095DA"/>
            </a:solidFill>
            <a:prstDash val="sysDot"/>
          </a:ln>
        </p:spPr>
      </p:sp>
      <p:sp>
        <p:nvSpPr>
          <p:cNvPr id="12" name="col-rule-2"/>
          <p:cNvSpPr/>
          <p:nvPr/>
        </p:nvSpPr>
        <p:spPr>
          <a:xfrm>
            <a:off x="8016240" y="1435608"/>
            <a:ext cx="0" cy="4663440"/>
          </a:xfrm>
          <a:prstGeom prst="line">
            <a:avLst/>
          </a:prstGeom>
          <a:noFill/>
          <a:ln w="9525">
            <a:solidFill>
              <a:srgbClr val="6095DA"/>
            </a:solidFill>
            <a:prstDash val="sysDot"/>
          </a:ln>
        </p:spPr>
      </p:sp>
      <p:sp>
        <p:nvSpPr>
          <p:cNvPr id="13" name="row-rule"/>
          <p:cNvSpPr/>
          <p:nvPr/>
        </p:nvSpPr>
        <p:spPr>
          <a:xfrm>
            <a:off x="274320" y="3657600"/>
            <a:ext cx="11612880" cy="0"/>
          </a:xfrm>
          <a:prstGeom prst="line">
            <a:avLst/>
          </a:prstGeom>
          <a:noFill/>
          <a:ln w="9525">
            <a:solidFill>
              <a:srgbClr val="6095DA"/>
            </a:solidFill>
            <a:prstDash val="sysDot"/>
          </a:ln>
        </p:spPr>
      </p:sp>
      <p:sp>
        <p:nvSpPr>
          <p:cNvPr id="14" name="source"/>
          <p:cNvSpPr txBox="1"/>
          <p:nvPr/>
        </p:nvSpPr>
        <p:spPr>
          <a:xfrm>
            <a:off x="274320" y="6263640"/>
            <a:ext cx="5486400" cy="274320"/>
          </a:xfrm>
          <a:prstGeom prst="rect">
            <a:avLst/>
          </a:prstGeom>
          <a:noFill/>
          <a:ln/>
        </p:spPr>
        <p:txBody>
          <a:bodyPr wrap="square" lIns="0" tIns="0" rIns="0" bIns="0" rtlCol="0" anchor="ctr"/>
          <a:lstStyle/>
          <a:p>
            <a:pPr indent="0" marL="0">
              <a:buNone/>
            </a:pPr>
            <a:r>
              <a:rPr lang="en-US" sz="1100" dirty="0">
                <a:solidFill>
                  <a:srgbClr val="6B7280"/>
                </a:solidFill>
                <a:latin typeface="Tahoma" pitchFamily="34" charset="0"/>
                <a:ea typeface="Tahoma" pitchFamily="34" charset="-122"/>
                <a:cs typeface="Tahoma" pitchFamily="34" charset="-120"/>
              </a:rPr>
              <a:t>Full citations on the references slide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2026-10-17T18:48:06Z</dcterms:created>
  <dcterms:modified xsi:type="dcterms:W3CDTF">2026-10-17T18:48:06Z</dcterms:modified>
</cp:coreProperties>
</file>