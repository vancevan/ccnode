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isease involvement" id="{061b82b2-1be3-e2a3-4b8c-18ef52d26df2}">
          <p14:sldIdLst>
            <p14:sldId id="256"/>
            <p14:sldId id="257"/>
          </p14:sldIdLst>
        </p14:section>
        <p14:section name="Literature" id="{81c9613d-d97d-494a-8e50-ad725e755e4c}">
          <p14:sldIdLst>
            <p14:sldId id="258"/>
            <p14:sldId id="259"/>
          </p14:sldIdLst>
        </p14:section>
        <p14:section name="References" id="{9c3d5cb1-0b1c-6dd0-d5a9-3af610d51373}">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Task 2. Move straight on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Huntington’s disease is caused by an expanded CAG repeat in the huntingtin gene and is inherited in an autosomal dominant way. Its hallmark is the loss of medium spiny neurons in the striatum. But mutant huntingtin is made by neurons throughout the brain, so the cortex degenerates too, and cortical thinning moves from the back of the brain forward. That includes the visual cortex, which loops into the tail of the caudate. Patients develop problems with color and motion perception, visual search and mental rotation. (About 25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consistently puts the occipital lobe early in the disease. Rosas showed that cortical thinning moves from posterior to anterior, with occipital thinning already present in stage one and two patients. Post-mortem counts confirm neuron loss across the cortex, though studies disagree about the primary visual cortex itself. In TRACK-HD, the study our data come from, Johnson found occipital thinning even before symptoms, and it predicted worse visual-test scores. Over ten years, the occipital and parietal cortex atrophied fastest of any cortical region.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ten structures, the lingual gyrus and the lateral occipital gyri, inferior and middle, have the strongest links to visual deficits in HD. The cuneus thins but has not been tied to test scores. So we hypothesize that HD subjects have smaller volumes in all ten occipital ROIs, on both sides, which we test next. One caveat: most studies use FreeSurfer labels, so their “lateral occipital” roughly equals our IOG and MOG, and primary visual cortex is split between our cuneus and lingual gyrus. (About 25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need to read this aloud. Leave it up briefly, or move it to the end of the group deck with the other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10698480" cy="457200"/>
          </a:xfrm>
          <a:prstGeom prst="rect">
            <a:avLst/>
          </a:prstGeom>
          <a:noFill/>
          <a:ln/>
        </p:spPr>
        <p:txBody>
          <a:bodyPr wrap="square" rtlCol="0"/>
          <a:lstStyle>
            <a:lvl1pPr indent="0" marL="0">
              <a:buNone/>
              <a:defRPr lang="en-US" sz="1400" b="1" spc="300" kern="0" dirty="0">
                <a:solidFill>
                  <a:schemeClr val="accent3"/>
                </a:solidFill>
              </a:defRPr>
            </a:lvl1pPr>
          </a:lstStyle>
          <a:p>
            <a:pPr indent="0" marL="0">
              <a:buNone/>
            </a:pPr>
            <a:endParaRPr lang="en-US" sz="1400" dirty="0"/>
          </a:p>
        </p:txBody>
      </p:sp>
      <p:sp>
        <p:nvSpPr>
          <p:cNvPr id="3" name="Text 0"/>
          <p:cNvSpPr/>
          <p:nvPr>
            <p:ph idx="101" type="title" hasCustomPrompt="1"/>
          </p:nvPr>
        </p:nvSpPr>
        <p:spPr>
          <a:xfrm>
            <a:off x="731520" y="2377440"/>
            <a:ext cx="1069848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731520" y="4206240"/>
            <a:ext cx="10698480" cy="82296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5" name="Text 0"/>
          <p:cNvSpPr/>
          <p:nvPr/>
        </p:nvSpPr>
        <p:spPr>
          <a:xfrm>
            <a:off x="731520" y="6172200"/>
            <a:ext cx="7315200" cy="320040"/>
          </a:xfrm>
          <a:prstGeom prst="rect">
            <a:avLst/>
          </a:prstGeom>
          <a:noFill/>
          <a:ln/>
        </p:spPr>
        <p:txBody>
          <a:bodyPr wrap="square" lIns="0" tIns="0" rIns="0" bIns="0" rtlCol="0" anchor="ctr"/>
          <a:lstStyle/>
          <a:p>
            <a:pPr indent="0" marL="0">
              <a:buNone/>
            </a:pPr>
            <a:r>
              <a:rPr lang="en-US" sz="1100" dirty="0">
                <a:solidFill>
                  <a:schemeClr val="accent6"/>
                </a:solidFill>
              </a:rPr>
              <a:t>Intro to Computational Medicine: Imaging · Fall 2026</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548640" y="6217920"/>
            <a:ext cx="10058400" cy="320040"/>
          </a:xfrm>
          <a:prstGeom prst="rect">
            <a:avLst/>
          </a:prstGeom>
          <a:noFill/>
          <a:ln/>
        </p:spPr>
        <p:txBody>
          <a:bodyPr wrap="square" rtlCol="0"/>
          <a:lstStyle>
            <a:lvl1pPr indent="0" marL="0">
              <a:buNone/>
              <a:defRPr lang="en-US" sz="1100" dirty="0">
                <a:solidFill>
                  <a:schemeClr val="accent5"/>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183112" y="621792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TI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548640" y="6217920"/>
            <a:ext cx="10058400" cy="320040"/>
          </a:xfrm>
          <a:prstGeom prst="rect">
            <a:avLst/>
          </a:prstGeom>
          <a:noFill/>
          <a:ln/>
        </p:spPr>
        <p:txBody>
          <a:bodyPr wrap="square" rtlCol="0"/>
          <a:lstStyle>
            <a:lvl1pPr indent="0" marL="0">
              <a:buNone/>
              <a:defRPr lang="en-US" sz="1100" dirty="0">
                <a:solidFill>
                  <a:schemeClr val="accent5"/>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183112" y="621792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21792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10698480" cy="457200"/>
          </a:xfrm>
          <a:prstGeom prst="rect">
            <a:avLst/>
          </a:prstGeom>
          <a:noFill/>
          <a:ln/>
        </p:spPr>
        <p:txBody>
          <a:bodyPr wrap="square" rtlCol="0" anchor="b"/>
          <a:lstStyle/>
          <a:p>
            <a:pPr indent="0" marL="0">
              <a:buNone/>
            </a:pPr>
            <a:r>
              <a:rPr lang="en-US" sz="1400" b="1" spc="300" kern="0" dirty="0">
                <a:solidFill>
                  <a:schemeClr val="accent3"/>
                </a:solidFill>
              </a:rPr>
              <a:t>TASK 2 · DISEASE INVOLVEMENT &amp; LITERATURE</a:t>
            </a:r>
            <a:endParaRPr lang="en-US" sz="1400" dirty="0"/>
          </a:p>
        </p:txBody>
      </p:sp>
      <p:sp>
        <p:nvSpPr>
          <p:cNvPr id="3" name="Text 0"/>
          <p:cNvSpPr/>
          <p:nvPr>
            <p:ph idx="101" type="title" hasCustomPrompt="1"/>
          </p:nvPr>
        </p:nvSpPr>
        <p:spPr>
          <a:xfrm>
            <a:off x="731520" y="2377440"/>
            <a:ext cx="10698480" cy="1737360"/>
          </a:xfrm>
          <a:prstGeom prst="rect">
            <a:avLst/>
          </a:prstGeom>
          <a:noFill/>
          <a:ln/>
        </p:spPr>
        <p:txBody>
          <a:bodyPr wrap="square" rtlCol="0" anchor="t"/>
          <a:lstStyle/>
          <a:p>
            <a:pPr algn="l" indent="0" marL="0">
              <a:buNone/>
            </a:pPr>
            <a:r>
              <a:rPr lang="en-US" sz="4800" b="1" dirty="0">
                <a:solidFill>
                  <a:schemeClr val="bg1"/>
                </a:solidFill>
              </a:rPr>
              <a:t>Huntington’s disease and the occipital lobe</a:t>
            </a:r>
            <a:endParaRPr lang="en-US" sz="4800" dirty="0"/>
          </a:p>
        </p:txBody>
      </p:sp>
      <p:sp>
        <p:nvSpPr>
          <p:cNvPr id="4" name="Text 0"/>
          <p:cNvSpPr/>
          <p:nvPr>
            <p:ph idx="102" type="body" hasCustomPrompt="1"/>
          </p:nvPr>
        </p:nvSpPr>
        <p:spPr>
          <a:xfrm>
            <a:off x="731520" y="4206240"/>
            <a:ext cx="10698480" cy="822960"/>
          </a:xfrm>
          <a:prstGeom prst="rect">
            <a:avLst/>
          </a:prstGeom>
          <a:noFill/>
          <a:ln/>
        </p:spPr>
        <p:txBody>
          <a:bodyPr wrap="square" rtlCol="0" anchor="t"/>
          <a:lstStyle/>
          <a:p>
            <a:pPr indent="0" marL="0">
              <a:buNone/>
            </a:pPr>
            <a:r>
              <a:rPr lang="en-US" sz="1800" dirty="0">
                <a:solidFill>
                  <a:schemeClr val="accent6"/>
                </a:solidFill>
              </a:rPr>
              <a:t>Group 1 · HD_ICM_random200 · Cuneus, lingual, and inferior, middle and superior occipital gyri (left and right)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Beyond the striatum: HD thins the visual cortex</a:t>
            </a:r>
            <a:endParaRPr lang="en-US" sz="3200" dirty="0"/>
          </a:p>
        </p:txBody>
      </p:sp>
      <p:sp>
        <p:nvSpPr>
          <p:cNvPr id="3" name="Text 0"/>
          <p:cNvSpPr/>
          <p:nvPr>
            <p:ph idx="101" type="body" hasCustomPrompt="1"/>
          </p:nvPr>
        </p:nvSpPr>
        <p:spPr>
          <a:xfrm>
            <a:off x="548640" y="6217920"/>
            <a:ext cx="10058400" cy="320040"/>
          </a:xfrm>
          <a:prstGeom prst="rect">
            <a:avLst/>
          </a:prstGeom>
          <a:noFill/>
          <a:ln/>
        </p:spPr>
        <p:txBody>
          <a:bodyPr wrap="square" lIns="0" tIns="0" rIns="0" bIns="0" rtlCol="0" anchor="ctr"/>
          <a:lstStyle/>
          <a:p>
            <a:pPr indent="0" marL="0">
              <a:buNone/>
            </a:pPr>
            <a:r>
              <a:rPr lang="en-US" sz="1100" dirty="0">
                <a:solidFill>
                  <a:schemeClr val="accent5"/>
                </a:solidFill>
              </a:rPr>
              <a:t>Sources: HD Collaborative Research Group 1993; Paulsen 2008; Rosas 2002; Nana 2014; Seger 2013; Dhalla 2019</a:t>
            </a:r>
            <a:endParaRPr lang="en-US" sz="1100" dirty="0"/>
          </a:p>
        </p:txBody>
      </p:sp>
      <p:sp>
        <p:nvSpPr>
          <p:cNvPr id="4" name="fact-0-circle"/>
          <p:cNvSpPr/>
          <p:nvPr/>
        </p:nvSpPr>
        <p:spPr>
          <a:xfrm>
            <a:off x="548640" y="1417320"/>
            <a:ext cx="548640" cy="548640"/>
          </a:xfrm>
          <a:prstGeom prst="ellipse">
            <a:avLst/>
          </a:prstGeom>
          <a:solidFill>
            <a:schemeClr val="accent1"/>
          </a:solidFill>
          <a:ln w="12700">
            <a:solidFill>
              <a:schemeClr val="accent1"/>
            </a:solidFill>
            <a:prstDash val="solid"/>
          </a:ln>
        </p:spPr>
      </p:sp>
      <p:pic>
        <p:nvPicPr>
          <p:cNvPr id="5" name="fact-0-icon" descr="cause">    </p:cNvPr>
          <p:cNvPicPr>
            <a:picLocks noChangeAspect="1"/>
          </p:cNvPicPr>
          <p:nvPr/>
        </p:nvPicPr>
        <p:blipFill>
          <a:blip r:embed="rId1"/>
          <a:stretch>
            <a:fillRect/>
          </a:stretch>
        </p:blipFill>
        <p:spPr>
          <a:xfrm>
            <a:off x="685800" y="1554480"/>
            <a:ext cx="274320" cy="274320"/>
          </a:xfrm>
          <a:prstGeom prst="rect">
            <a:avLst/>
          </a:prstGeom>
        </p:spPr>
      </p:pic>
      <p:sp>
        <p:nvSpPr>
          <p:cNvPr id="6" name="fact-0-text"/>
          <p:cNvSpPr txBox="1"/>
          <p:nvPr/>
        </p:nvSpPr>
        <p:spPr>
          <a:xfrm>
            <a:off x="1280160" y="1371600"/>
            <a:ext cx="4023360" cy="914400"/>
          </a:xfrm>
          <a:prstGeom prst="rect">
            <a:avLst/>
          </a:prstGeom>
          <a:noFill/>
          <a:ln/>
        </p:spPr>
        <p:txBody>
          <a:bodyPr wrap="square" lIns="0" tIns="0" rIns="0" bIns="0" rtlCol="0" anchor="t"/>
          <a:lstStyle/>
          <a:p>
            <a:pPr indent="0" marL="0">
              <a:spcAft>
                <a:spcPts val="300"/>
              </a:spcAft>
              <a:buNone/>
            </a:pPr>
            <a:r>
              <a:rPr lang="en-US" sz="1200" b="1" spc="200" kern="0" dirty="0">
                <a:solidFill>
                  <a:schemeClr val="accent1"/>
                </a:solidFill>
              </a:rPr>
              <a:t>CAUSE</a:t>
            </a:r>
            <a:endParaRPr lang="en-US" sz="1200" dirty="0"/>
          </a:p>
          <a:p>
            <a:pPr indent="0" marL="0">
              <a:spcAft>
                <a:spcPts val="300"/>
              </a:spcAft>
              <a:buNone/>
            </a:pPr>
            <a:r>
              <a:rPr lang="en-US" sz="1500" dirty="0">
                <a:solidFill>
                  <a:schemeClr val="tx2"/>
                </a:solidFill>
              </a:rPr>
              <a:t>Expanded CAG repeat in the HTT gene (chromosome 4); 40 or more repeats means full penetrance</a:t>
            </a:r>
            <a:endParaRPr lang="en-US" sz="1200" dirty="0"/>
          </a:p>
        </p:txBody>
      </p:sp>
      <p:sp>
        <p:nvSpPr>
          <p:cNvPr id="7" name="fact-1-circle"/>
          <p:cNvSpPr/>
          <p:nvPr/>
        </p:nvSpPr>
        <p:spPr>
          <a:xfrm>
            <a:off x="548640" y="2532888"/>
            <a:ext cx="548640" cy="548640"/>
          </a:xfrm>
          <a:prstGeom prst="ellipse">
            <a:avLst/>
          </a:prstGeom>
          <a:solidFill>
            <a:schemeClr val="accent1"/>
          </a:solidFill>
          <a:ln w="12700">
            <a:solidFill>
              <a:schemeClr val="accent1"/>
            </a:solidFill>
            <a:prstDash val="solid"/>
          </a:ln>
        </p:spPr>
      </p:sp>
      <p:pic>
        <p:nvPicPr>
          <p:cNvPr id="8" name="fact-1-icon" descr="spread">    </p:cNvPr>
          <p:cNvPicPr>
            <a:picLocks noChangeAspect="1"/>
          </p:cNvPicPr>
          <p:nvPr/>
        </p:nvPicPr>
        <p:blipFill>
          <a:blip r:embed="rId2"/>
          <a:stretch>
            <a:fillRect/>
          </a:stretch>
        </p:blipFill>
        <p:spPr>
          <a:xfrm>
            <a:off x="685800" y="2670048"/>
            <a:ext cx="274320" cy="274320"/>
          </a:xfrm>
          <a:prstGeom prst="rect">
            <a:avLst/>
          </a:prstGeom>
        </p:spPr>
      </p:pic>
      <p:sp>
        <p:nvSpPr>
          <p:cNvPr id="9" name="fact-1-text"/>
          <p:cNvSpPr txBox="1"/>
          <p:nvPr/>
        </p:nvSpPr>
        <p:spPr>
          <a:xfrm>
            <a:off x="1280160" y="2487168"/>
            <a:ext cx="4023360" cy="914400"/>
          </a:xfrm>
          <a:prstGeom prst="rect">
            <a:avLst/>
          </a:prstGeom>
          <a:noFill/>
          <a:ln/>
        </p:spPr>
        <p:txBody>
          <a:bodyPr wrap="square" lIns="0" tIns="0" rIns="0" bIns="0" rtlCol="0" anchor="t"/>
          <a:lstStyle/>
          <a:p>
            <a:pPr indent="0" marL="0">
              <a:spcAft>
                <a:spcPts val="300"/>
              </a:spcAft>
              <a:buNone/>
            </a:pPr>
            <a:r>
              <a:rPr lang="en-US" sz="1200" b="1" spc="200" kern="0" dirty="0">
                <a:solidFill>
                  <a:schemeClr val="accent1"/>
                </a:solidFill>
              </a:rPr>
              <a:t>SPREAD</a:t>
            </a:r>
            <a:endParaRPr lang="en-US" sz="1200" dirty="0"/>
          </a:p>
          <a:p>
            <a:pPr indent="0" marL="0">
              <a:spcAft>
                <a:spcPts val="300"/>
              </a:spcAft>
              <a:buNone/>
            </a:pPr>
            <a:r>
              <a:rPr lang="en-US" sz="1500" dirty="0">
                <a:solidFill>
                  <a:schemeClr val="tx2"/>
                </a:solidFill>
              </a:rPr>
              <a:t>Striatum first; cortical thinning then moves from posterior to anterior regions</a:t>
            </a:r>
            <a:endParaRPr lang="en-US" sz="1200" dirty="0"/>
          </a:p>
        </p:txBody>
      </p:sp>
      <p:sp>
        <p:nvSpPr>
          <p:cNvPr id="10" name="fact-2-circle"/>
          <p:cNvSpPr/>
          <p:nvPr/>
        </p:nvSpPr>
        <p:spPr>
          <a:xfrm>
            <a:off x="548640" y="3648456"/>
            <a:ext cx="548640" cy="548640"/>
          </a:xfrm>
          <a:prstGeom prst="ellipse">
            <a:avLst/>
          </a:prstGeom>
          <a:solidFill>
            <a:schemeClr val="accent1"/>
          </a:solidFill>
          <a:ln w="12700">
            <a:solidFill>
              <a:schemeClr val="accent1"/>
            </a:solidFill>
            <a:prstDash val="solid"/>
          </a:ln>
        </p:spPr>
      </p:sp>
      <p:pic>
        <p:nvPicPr>
          <p:cNvPr id="11" name="fact-2-icon" descr="symptoms">    </p:cNvPr>
          <p:cNvPicPr>
            <a:picLocks noChangeAspect="1"/>
          </p:cNvPicPr>
          <p:nvPr/>
        </p:nvPicPr>
        <p:blipFill>
          <a:blip r:embed="rId3"/>
          <a:stretch>
            <a:fillRect/>
          </a:stretch>
        </p:blipFill>
        <p:spPr>
          <a:xfrm>
            <a:off x="685800" y="3785616"/>
            <a:ext cx="274320" cy="274320"/>
          </a:xfrm>
          <a:prstGeom prst="rect">
            <a:avLst/>
          </a:prstGeom>
        </p:spPr>
      </p:pic>
      <p:sp>
        <p:nvSpPr>
          <p:cNvPr id="12" name="fact-2-text"/>
          <p:cNvSpPr txBox="1"/>
          <p:nvPr/>
        </p:nvSpPr>
        <p:spPr>
          <a:xfrm>
            <a:off x="1280160" y="3602736"/>
            <a:ext cx="4023360" cy="914400"/>
          </a:xfrm>
          <a:prstGeom prst="rect">
            <a:avLst/>
          </a:prstGeom>
          <a:noFill/>
          <a:ln/>
        </p:spPr>
        <p:txBody>
          <a:bodyPr wrap="square" lIns="0" tIns="0" rIns="0" bIns="0" rtlCol="0" anchor="t"/>
          <a:lstStyle/>
          <a:p>
            <a:pPr indent="0" marL="0">
              <a:spcAft>
                <a:spcPts val="300"/>
              </a:spcAft>
              <a:buNone/>
            </a:pPr>
            <a:r>
              <a:rPr lang="en-US" sz="1200" b="1" spc="200" kern="0" dirty="0">
                <a:solidFill>
                  <a:schemeClr val="accent1"/>
                </a:solidFill>
              </a:rPr>
              <a:t>SYMPTOMS</a:t>
            </a:r>
            <a:endParaRPr lang="en-US" sz="1200" dirty="0"/>
          </a:p>
          <a:p>
            <a:pPr indent="0" marL="0">
              <a:spcAft>
                <a:spcPts val="300"/>
              </a:spcAft>
              <a:buNone/>
            </a:pPr>
            <a:r>
              <a:rPr lang="en-US" sz="1500" dirty="0">
                <a:solidFill>
                  <a:schemeClr val="tx2"/>
                </a:solidFill>
              </a:rPr>
              <a:t>Motor (chorea), cognitive and psychiatric; onset usually at age 30–50</a:t>
            </a:r>
            <a:endParaRPr lang="en-US" sz="1200" dirty="0"/>
          </a:p>
        </p:txBody>
      </p:sp>
      <p:sp>
        <p:nvSpPr>
          <p:cNvPr id="13" name="fact-3-circle"/>
          <p:cNvSpPr/>
          <p:nvPr/>
        </p:nvSpPr>
        <p:spPr>
          <a:xfrm>
            <a:off x="548640" y="4764024"/>
            <a:ext cx="548640" cy="548640"/>
          </a:xfrm>
          <a:prstGeom prst="ellipse">
            <a:avLst/>
          </a:prstGeom>
          <a:solidFill>
            <a:schemeClr val="accent1"/>
          </a:solidFill>
          <a:ln w="12700">
            <a:solidFill>
              <a:schemeClr val="accent1"/>
            </a:solidFill>
            <a:prstDash val="solid"/>
          </a:ln>
        </p:spPr>
      </p:sp>
      <p:pic>
        <p:nvPicPr>
          <p:cNvPr id="14" name="fact-3-icon" descr="silent phase">    </p:cNvPr>
          <p:cNvPicPr>
            <a:picLocks noChangeAspect="1"/>
          </p:cNvPicPr>
          <p:nvPr/>
        </p:nvPicPr>
        <p:blipFill>
          <a:blip r:embed="rId4"/>
          <a:stretch>
            <a:fillRect/>
          </a:stretch>
        </p:blipFill>
        <p:spPr>
          <a:xfrm>
            <a:off x="685800" y="4901184"/>
            <a:ext cx="274320" cy="274320"/>
          </a:xfrm>
          <a:prstGeom prst="rect">
            <a:avLst/>
          </a:prstGeom>
        </p:spPr>
      </p:pic>
      <p:sp>
        <p:nvSpPr>
          <p:cNvPr id="15" name="fact-3-text"/>
          <p:cNvSpPr txBox="1"/>
          <p:nvPr/>
        </p:nvSpPr>
        <p:spPr>
          <a:xfrm>
            <a:off x="1280160" y="4718304"/>
            <a:ext cx="4023360" cy="914400"/>
          </a:xfrm>
          <a:prstGeom prst="rect">
            <a:avLst/>
          </a:prstGeom>
          <a:noFill/>
          <a:ln/>
        </p:spPr>
        <p:txBody>
          <a:bodyPr wrap="square" lIns="0" tIns="0" rIns="0" bIns="0" rtlCol="0" anchor="t"/>
          <a:lstStyle/>
          <a:p>
            <a:pPr indent="0" marL="0">
              <a:spcAft>
                <a:spcPts val="300"/>
              </a:spcAft>
              <a:buNone/>
            </a:pPr>
            <a:r>
              <a:rPr lang="en-US" sz="1200" b="1" spc="200" kern="0" dirty="0">
                <a:solidFill>
                  <a:schemeClr val="accent1"/>
                </a:solidFill>
              </a:rPr>
              <a:t>SILENT PHASE</a:t>
            </a:r>
            <a:endParaRPr lang="en-US" sz="1200" dirty="0"/>
          </a:p>
          <a:p>
            <a:pPr indent="0" marL="0">
              <a:spcAft>
                <a:spcPts val="300"/>
              </a:spcAft>
              <a:buNone/>
            </a:pPr>
            <a:r>
              <a:rPr lang="en-US" sz="1500" dirty="0">
                <a:solidFill>
                  <a:schemeClr val="tx2"/>
                </a:solidFill>
              </a:rPr>
              <a:t>Brain changes begin 10–20 years before clinical diagnosis</a:t>
            </a:r>
            <a:endParaRPr lang="en-US" sz="1200" dirty="0"/>
          </a:p>
        </p:txBody>
      </p:sp>
      <p:sp>
        <p:nvSpPr>
          <p:cNvPr id="16" name="box-mhtt"/>
          <p:cNvSpPr/>
          <p:nvPr/>
        </p:nvSpPr>
        <p:spPr>
          <a:xfrm>
            <a:off x="6720840" y="1417320"/>
            <a:ext cx="4069080" cy="822960"/>
          </a:xfrm>
          <a:prstGeom prst="roundRect">
            <a:avLst>
              <a:gd name="adj" fmla="val 11111"/>
            </a:avLst>
          </a:prstGeom>
          <a:solidFill>
            <a:schemeClr val="bg1"/>
          </a:solidFill>
          <a:ln w="19050">
            <a:solidFill>
              <a:schemeClr val="accent5"/>
            </a:solidFill>
            <a:prstDash val="solid"/>
          </a:ln>
          <a:effectLst>
            <a:outerShdw sx="100000" sy="100000" kx="0" ky="0" algn="bl" rotWithShape="0" blurRad="76200" dist="25400" dir="5400000">
              <a:srgbClr val="16213A">
                <a:alpha val="10000"/>
              </a:srgbClr>
            </a:outerShdw>
          </a:effectLst>
        </p:spPr>
      </p:sp>
      <p:sp>
        <p:nvSpPr>
          <p:cNvPr id="17" name="box-mhtt-text"/>
          <p:cNvSpPr txBox="1"/>
          <p:nvPr/>
        </p:nvSpPr>
        <p:spPr>
          <a:xfrm>
            <a:off x="6858000" y="1417320"/>
            <a:ext cx="3794760" cy="822960"/>
          </a:xfrm>
          <a:prstGeom prst="rect">
            <a:avLst/>
          </a:prstGeom>
          <a:noFill/>
          <a:ln/>
        </p:spPr>
        <p:txBody>
          <a:bodyPr wrap="square" lIns="0" tIns="0" rIns="0" bIns="0" rtlCol="0" anchor="ctr"/>
          <a:lstStyle/>
          <a:p>
            <a:pPr algn="ctr" indent="0" marL="0">
              <a:spcAft>
                <a:spcPts val="200"/>
              </a:spcAft>
              <a:buNone/>
            </a:pPr>
            <a:r>
              <a:rPr lang="en-US" sz="1600" b="1" dirty="0">
                <a:solidFill>
                  <a:schemeClr val="tx1"/>
                </a:solidFill>
              </a:rPr>
              <a:t>Mutant huntingtin</a:t>
            </a:r>
            <a:endParaRPr lang="en-US" sz="1600" dirty="0"/>
          </a:p>
          <a:p>
            <a:pPr algn="ctr" indent="0" marL="0">
              <a:spcAft>
                <a:spcPts val="200"/>
              </a:spcAft>
              <a:buNone/>
            </a:pPr>
            <a:r>
              <a:rPr lang="en-US" sz="1300" dirty="0">
                <a:solidFill>
                  <a:schemeClr val="tx2"/>
                </a:solidFill>
              </a:rPr>
              <a:t>made by neurons throughout the brain</a:t>
            </a:r>
            <a:endParaRPr lang="en-US" sz="1600" dirty="0"/>
          </a:p>
        </p:txBody>
      </p:sp>
      <p:sp>
        <p:nvSpPr>
          <p:cNvPr id="18" name="arrow-to-striatum"/>
          <p:cNvSpPr/>
          <p:nvPr/>
        </p:nvSpPr>
        <p:spPr>
          <a:xfrm>
            <a:off x="6995160" y="2240280"/>
            <a:ext cx="0" cy="457200"/>
          </a:xfrm>
          <a:prstGeom prst="line">
            <a:avLst/>
          </a:prstGeom>
          <a:noFill/>
          <a:ln w="25400">
            <a:solidFill>
              <a:schemeClr val="accent5"/>
            </a:solidFill>
            <a:prstDash val="solid"/>
            <a:tailEnd type="triangle"/>
          </a:ln>
        </p:spPr>
      </p:sp>
      <p:sp>
        <p:nvSpPr>
          <p:cNvPr id="19" name="arrow-to-occipital"/>
          <p:cNvSpPr/>
          <p:nvPr/>
        </p:nvSpPr>
        <p:spPr>
          <a:xfrm>
            <a:off x="10515600" y="2240280"/>
            <a:ext cx="0" cy="457200"/>
          </a:xfrm>
          <a:prstGeom prst="line">
            <a:avLst/>
          </a:prstGeom>
          <a:noFill/>
          <a:ln w="25400">
            <a:solidFill>
              <a:schemeClr val="accent5"/>
            </a:solidFill>
            <a:prstDash val="solid"/>
            <a:tailEnd type="triangle"/>
          </a:ln>
        </p:spPr>
      </p:sp>
      <p:sp>
        <p:nvSpPr>
          <p:cNvPr id="20" name="box-striatum"/>
          <p:cNvSpPr/>
          <p:nvPr/>
        </p:nvSpPr>
        <p:spPr>
          <a:xfrm>
            <a:off x="5897880" y="2697480"/>
            <a:ext cx="2194560" cy="1234440"/>
          </a:xfrm>
          <a:prstGeom prst="roundRect">
            <a:avLst>
              <a:gd name="adj" fmla="val 7407"/>
            </a:avLst>
          </a:prstGeom>
          <a:solidFill>
            <a:schemeClr val="accent3"/>
          </a:solidFill>
          <a:ln w="19050">
            <a:solidFill>
              <a:schemeClr val="accent1"/>
            </a:solidFill>
            <a:prstDash val="solid"/>
          </a:ln>
          <a:effectLst>
            <a:outerShdw sx="100000" sy="100000" kx="0" ky="0" algn="bl" rotWithShape="0" blurRad="76200" dist="25400" dir="5400000">
              <a:srgbClr val="16213A">
                <a:alpha val="10000"/>
              </a:srgbClr>
            </a:outerShdw>
          </a:effectLst>
        </p:spPr>
      </p:sp>
      <p:sp>
        <p:nvSpPr>
          <p:cNvPr id="21" name="box-striatum-text"/>
          <p:cNvSpPr txBox="1"/>
          <p:nvPr/>
        </p:nvSpPr>
        <p:spPr>
          <a:xfrm>
            <a:off x="6035040" y="2697480"/>
            <a:ext cx="1920240" cy="1234440"/>
          </a:xfrm>
          <a:prstGeom prst="rect">
            <a:avLst/>
          </a:prstGeom>
          <a:noFill/>
          <a:ln/>
        </p:spPr>
        <p:txBody>
          <a:bodyPr wrap="square" lIns="0" tIns="0" rIns="0" bIns="0" rtlCol="0" anchor="ctr"/>
          <a:lstStyle/>
          <a:p>
            <a:pPr algn="ctr" indent="0" marL="0">
              <a:spcAft>
                <a:spcPts val="200"/>
              </a:spcAft>
              <a:buNone/>
            </a:pPr>
            <a:r>
              <a:rPr lang="en-US" sz="1600" b="1" dirty="0">
                <a:solidFill>
                  <a:schemeClr val="tx1"/>
                </a:solidFill>
              </a:rPr>
              <a:t>Striatum</a:t>
            </a:r>
            <a:endParaRPr lang="en-US" sz="1600" dirty="0"/>
          </a:p>
          <a:p>
            <a:pPr algn="ctr" indent="0" marL="0">
              <a:spcAft>
                <a:spcPts val="200"/>
              </a:spcAft>
              <a:buNone/>
            </a:pPr>
            <a:r>
              <a:rPr lang="en-US" sz="1300" dirty="0">
                <a:solidFill>
                  <a:schemeClr val="tx2"/>
                </a:solidFill>
              </a:rPr>
              <a:t>Medium spiny neurons die first</a:t>
            </a:r>
            <a:endParaRPr lang="en-US" sz="1600" dirty="0"/>
          </a:p>
        </p:txBody>
      </p:sp>
      <p:sp>
        <p:nvSpPr>
          <p:cNvPr id="22" name="box-occipital"/>
          <p:cNvSpPr/>
          <p:nvPr/>
        </p:nvSpPr>
        <p:spPr>
          <a:xfrm>
            <a:off x="9418320" y="2697480"/>
            <a:ext cx="2194560" cy="1234440"/>
          </a:xfrm>
          <a:prstGeom prst="roundRect">
            <a:avLst>
              <a:gd name="adj" fmla="val 7407"/>
            </a:avLst>
          </a:prstGeom>
          <a:solidFill>
            <a:schemeClr val="accent4"/>
          </a:solidFill>
          <a:ln w="19050">
            <a:solidFill>
              <a:schemeClr val="accent2"/>
            </a:solidFill>
            <a:prstDash val="solid"/>
          </a:ln>
          <a:effectLst>
            <a:outerShdw sx="100000" sy="100000" kx="0" ky="0" algn="bl" rotWithShape="0" blurRad="76200" dist="25400" dir="5400000">
              <a:srgbClr val="16213A">
                <a:alpha val="10000"/>
              </a:srgbClr>
            </a:outerShdw>
          </a:effectLst>
        </p:spPr>
      </p:sp>
      <p:sp>
        <p:nvSpPr>
          <p:cNvPr id="23" name="box-occipital-text"/>
          <p:cNvSpPr txBox="1"/>
          <p:nvPr/>
        </p:nvSpPr>
        <p:spPr>
          <a:xfrm>
            <a:off x="9555480" y="2697480"/>
            <a:ext cx="1920240" cy="1234440"/>
          </a:xfrm>
          <a:prstGeom prst="rect">
            <a:avLst/>
          </a:prstGeom>
          <a:noFill/>
          <a:ln/>
        </p:spPr>
        <p:txBody>
          <a:bodyPr wrap="square" lIns="0" tIns="0" rIns="0" bIns="0" rtlCol="0" anchor="ctr"/>
          <a:lstStyle/>
          <a:p>
            <a:pPr algn="ctr" indent="0" marL="0">
              <a:spcAft>
                <a:spcPts val="200"/>
              </a:spcAft>
              <a:buNone/>
            </a:pPr>
            <a:r>
              <a:rPr lang="en-US" sz="1600" b="1" dirty="0">
                <a:solidFill>
                  <a:schemeClr val="tx1"/>
                </a:solidFill>
              </a:rPr>
              <a:t>Occipital cortex</a:t>
            </a:r>
            <a:endParaRPr lang="en-US" sz="1600" dirty="0"/>
          </a:p>
          <a:p>
            <a:pPr algn="ctr" indent="0" marL="0">
              <a:spcAft>
                <a:spcPts val="200"/>
              </a:spcAft>
              <a:buNone/>
            </a:pPr>
            <a:r>
              <a:rPr lang="en-US" sz="1300" dirty="0">
                <a:solidFill>
                  <a:schemeClr val="tx2"/>
                </a:solidFill>
              </a:rPr>
              <a:t>Neurons lost; cortex thins</a:t>
            </a:r>
            <a:endParaRPr lang="en-US" sz="1600" dirty="0"/>
          </a:p>
        </p:txBody>
      </p:sp>
      <p:sp>
        <p:nvSpPr>
          <p:cNvPr id="24" name="loop-arrow"/>
          <p:cNvSpPr/>
          <p:nvPr/>
        </p:nvSpPr>
        <p:spPr>
          <a:xfrm>
            <a:off x="8183880" y="3063240"/>
            <a:ext cx="1143000" cy="0"/>
          </a:xfrm>
          <a:prstGeom prst="line">
            <a:avLst/>
          </a:prstGeom>
          <a:noFill/>
          <a:ln w="25400">
            <a:solidFill>
              <a:schemeClr val="accent5"/>
            </a:solidFill>
            <a:prstDash val="solid"/>
            <a:headEnd type="triangle"/>
            <a:tailEnd type="triangle"/>
          </a:ln>
        </p:spPr>
      </p:sp>
      <p:sp>
        <p:nvSpPr>
          <p:cNvPr id="25" name="loop-label"/>
          <p:cNvSpPr txBox="1"/>
          <p:nvPr/>
        </p:nvSpPr>
        <p:spPr>
          <a:xfrm>
            <a:off x="8138160" y="3154680"/>
            <a:ext cx="1234440" cy="731520"/>
          </a:xfrm>
          <a:prstGeom prst="rect">
            <a:avLst/>
          </a:prstGeom>
          <a:noFill/>
          <a:ln/>
        </p:spPr>
        <p:txBody>
          <a:bodyPr wrap="square" lIns="0" tIns="0" rIns="0" bIns="0" rtlCol="0" anchor="t"/>
          <a:lstStyle/>
          <a:p>
            <a:pPr algn="ctr" indent="0" marL="0">
              <a:buNone/>
            </a:pPr>
            <a:r>
              <a:rPr lang="en-US" sz="1200" dirty="0">
                <a:solidFill>
                  <a:schemeClr val="tx2"/>
                </a:solidFill>
              </a:rPr>
              <a:t>Visual loop to the caudate tail</a:t>
            </a:r>
            <a:endParaRPr lang="en-US" sz="1200" dirty="0"/>
          </a:p>
        </p:txBody>
      </p:sp>
      <p:sp>
        <p:nvSpPr>
          <p:cNvPr id="26" name="arrow-to-deficits"/>
          <p:cNvSpPr/>
          <p:nvPr/>
        </p:nvSpPr>
        <p:spPr>
          <a:xfrm>
            <a:off x="10515600" y="3931920"/>
            <a:ext cx="0" cy="457200"/>
          </a:xfrm>
          <a:prstGeom prst="line">
            <a:avLst/>
          </a:prstGeom>
          <a:noFill/>
          <a:ln w="25400">
            <a:solidFill>
              <a:schemeClr val="accent5"/>
            </a:solidFill>
            <a:prstDash val="solid"/>
            <a:tailEnd type="triangle"/>
          </a:ln>
        </p:spPr>
      </p:sp>
      <p:sp>
        <p:nvSpPr>
          <p:cNvPr id="27" name="box-deficits"/>
          <p:cNvSpPr/>
          <p:nvPr/>
        </p:nvSpPr>
        <p:spPr>
          <a:xfrm>
            <a:off x="5897880" y="4389120"/>
            <a:ext cx="5715000" cy="960120"/>
          </a:xfrm>
          <a:prstGeom prst="roundRect">
            <a:avLst>
              <a:gd name="adj" fmla="val 9524"/>
            </a:avLst>
          </a:prstGeom>
          <a:solidFill>
            <a:schemeClr val="bg1"/>
          </a:solidFill>
          <a:ln w="19050">
            <a:solidFill>
              <a:schemeClr val="accent2"/>
            </a:solidFill>
            <a:prstDash val="solid"/>
          </a:ln>
          <a:effectLst>
            <a:outerShdw sx="100000" sy="100000" kx="0" ky="0" algn="bl" rotWithShape="0" blurRad="76200" dist="25400" dir="5400000">
              <a:srgbClr val="16213A">
                <a:alpha val="10000"/>
              </a:srgbClr>
            </a:outerShdw>
          </a:effectLst>
        </p:spPr>
      </p:sp>
      <p:sp>
        <p:nvSpPr>
          <p:cNvPr id="28" name="box-deficits-text"/>
          <p:cNvSpPr txBox="1"/>
          <p:nvPr/>
        </p:nvSpPr>
        <p:spPr>
          <a:xfrm>
            <a:off x="6035040" y="4389120"/>
            <a:ext cx="5440680" cy="960120"/>
          </a:xfrm>
          <a:prstGeom prst="rect">
            <a:avLst/>
          </a:prstGeom>
          <a:noFill/>
          <a:ln/>
        </p:spPr>
        <p:txBody>
          <a:bodyPr wrap="square" lIns="0" tIns="0" rIns="0" bIns="0" rtlCol="0" anchor="ctr"/>
          <a:lstStyle/>
          <a:p>
            <a:pPr algn="ctr" indent="0" marL="0">
              <a:spcAft>
                <a:spcPts val="200"/>
              </a:spcAft>
              <a:buNone/>
            </a:pPr>
            <a:r>
              <a:rPr lang="en-US" sz="1600" b="1" dirty="0">
                <a:solidFill>
                  <a:schemeClr val="tx1"/>
                </a:solidFill>
              </a:rPr>
              <a:t>Visual deficits</a:t>
            </a:r>
            <a:endParaRPr lang="en-US" sz="1600" dirty="0"/>
          </a:p>
          <a:p>
            <a:pPr algn="ctr" indent="0" marL="0">
              <a:spcAft>
                <a:spcPts val="200"/>
              </a:spcAft>
              <a:buNone/>
            </a:pPr>
            <a:r>
              <a:rPr lang="en-US" sz="1300" dirty="0">
                <a:solidFill>
                  <a:schemeClr val="tx2"/>
                </a:solidFill>
              </a:rPr>
              <a:t>Color and motion perception, visual search, mental rotation</a:t>
            </a:r>
            <a:endParaRPr lang="en-US" sz="1600" dirty="0"/>
          </a:p>
        </p:txBody>
      </p:sp>
      <p:sp>
        <p:nvSpPr>
          <p:cNvPr id="25" name="Slide Number Placeholder 0"/>
          <p:cNvSpPr>
            <a:spLocks noGrp="1"/>
          </p:cNvSpPr>
          <p:nvPr>
            <p:ph type="sldNum" sz="quarter" idx="4294967295"/>
          </p:nvPr>
        </p:nvSpPr>
        <p:spPr>
          <a:xfrm>
            <a:off x="11183112" y="621792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Studies place the occipital lobe early in HD</a:t>
            </a:r>
            <a:endParaRPr lang="en-US" sz="3200" dirty="0"/>
          </a:p>
        </p:txBody>
      </p:sp>
      <p:sp>
        <p:nvSpPr>
          <p:cNvPr id="3" name="Text 0"/>
          <p:cNvSpPr/>
          <p:nvPr>
            <p:ph idx="101" type="body" hasCustomPrompt="1"/>
          </p:nvPr>
        </p:nvSpPr>
        <p:spPr>
          <a:xfrm>
            <a:off x="548640" y="6217920"/>
            <a:ext cx="10058400" cy="320040"/>
          </a:xfrm>
          <a:prstGeom prst="rect">
            <a:avLst/>
          </a:prstGeom>
          <a:noFill/>
          <a:ln/>
        </p:spPr>
        <p:txBody>
          <a:bodyPr wrap="square" lIns="0" tIns="0" rIns="0" bIns="0" rtlCol="0" anchor="ctr"/>
          <a:lstStyle/>
          <a:p>
            <a:pPr indent="0" marL="0">
              <a:buNone/>
            </a:pPr>
            <a:r>
              <a:rPr lang="en-US" sz="1100" dirty="0">
                <a:solidFill>
                  <a:schemeClr val="accent5"/>
                </a:solidFill>
              </a:rPr>
              <a:t>Full citations on the references slide</a:t>
            </a:r>
            <a:endParaRPr lang="en-US" sz="1100" dirty="0"/>
          </a:p>
        </p:txBody>
      </p:sp>
      <p:sp>
        <p:nvSpPr>
          <p:cNvPr id="4" name="study-0-card"/>
          <p:cNvSpPr/>
          <p:nvPr/>
        </p:nvSpPr>
        <p:spPr>
          <a:xfrm>
            <a:off x="548640" y="1371600"/>
            <a:ext cx="3514344" cy="2011680"/>
          </a:xfrm>
          <a:prstGeom prst="roundRect">
            <a:avLst>
              <a:gd name="adj" fmla="val 4545"/>
            </a:avLst>
          </a:prstGeom>
          <a:solidFill>
            <a:schemeClr val="bg1"/>
          </a:solidFill>
          <a:ln w="12700">
            <a:solidFill>
              <a:schemeClr val="accent6"/>
            </a:solidFill>
            <a:prstDash val="solid"/>
          </a:ln>
          <a:effectLst>
            <a:outerShdw sx="100000" sy="100000" kx="0" ky="0" algn="bl" rotWithShape="0" blurRad="76200" dist="25400" dir="5400000">
              <a:srgbClr val="16213A">
                <a:alpha val="10000"/>
              </a:srgbClr>
            </a:outerShdw>
          </a:effectLst>
        </p:spPr>
      </p:sp>
      <p:sp>
        <p:nvSpPr>
          <p:cNvPr id="5" name="study-0-circle"/>
          <p:cNvSpPr/>
          <p:nvPr/>
        </p:nvSpPr>
        <p:spPr>
          <a:xfrm>
            <a:off x="3377184" y="1572768"/>
            <a:ext cx="457200" cy="457200"/>
          </a:xfrm>
          <a:prstGeom prst="ellipse">
            <a:avLst/>
          </a:prstGeom>
          <a:solidFill>
            <a:schemeClr val="accent1"/>
          </a:solidFill>
          <a:ln w="12700">
            <a:solidFill>
              <a:schemeClr val="accent1"/>
            </a:solidFill>
            <a:prstDash val="solid"/>
          </a:ln>
        </p:spPr>
      </p:sp>
      <p:pic>
        <p:nvPicPr>
          <p:cNvPr id="6" name="study-0-icon" descr="MRI · cortical thickness">    </p:cNvPr>
          <p:cNvPicPr>
            <a:picLocks noChangeAspect="1"/>
          </p:cNvPicPr>
          <p:nvPr/>
        </p:nvPicPr>
        <p:blipFill>
          <a:blip r:embed="rId1"/>
          <a:stretch>
            <a:fillRect/>
          </a:stretch>
        </p:blipFill>
        <p:spPr>
          <a:xfrm>
            <a:off x="3491484" y="1687068"/>
            <a:ext cx="228600" cy="228600"/>
          </a:xfrm>
          <a:prstGeom prst="rect">
            <a:avLst/>
          </a:prstGeom>
        </p:spPr>
      </p:pic>
      <p:sp>
        <p:nvSpPr>
          <p:cNvPr id="7" name="study-0-text"/>
          <p:cNvSpPr txBox="1"/>
          <p:nvPr/>
        </p:nvSpPr>
        <p:spPr>
          <a:xfrm>
            <a:off x="777240" y="1572768"/>
            <a:ext cx="2508504" cy="1609344"/>
          </a:xfrm>
          <a:prstGeom prst="rect">
            <a:avLst/>
          </a:prstGeom>
          <a:noFill/>
          <a:ln/>
        </p:spPr>
        <p:txBody>
          <a:bodyPr wrap="square" lIns="0" tIns="0" rIns="0" bIns="0" rtlCol="0" anchor="t"/>
          <a:lstStyle/>
          <a:p>
            <a:pPr indent="0" marL="0">
              <a:spcAft>
                <a:spcPts val="600"/>
              </a:spcAft>
              <a:buNone/>
            </a:pPr>
            <a:r>
              <a:rPr lang="en-US" sz="1400" b="1" dirty="0">
                <a:solidFill>
                  <a:schemeClr val="accent1"/>
                </a:solidFill>
              </a:rPr>
              <a:t>2002 · Rosas et al.</a:t>
            </a:r>
            <a:endParaRPr lang="en-US" sz="1400" dirty="0"/>
          </a:p>
          <a:p>
            <a:pPr indent="0" marL="0">
              <a:spcAft>
                <a:spcPts val="600"/>
              </a:spcAft>
              <a:buNone/>
            </a:pPr>
            <a:r>
              <a:rPr lang="en-US" sz="1200" dirty="0">
                <a:solidFill>
                  <a:schemeClr val="accent5"/>
                </a:solidFill>
              </a:rPr>
              <a:t>MRI · cortical thickness</a:t>
            </a:r>
            <a:endParaRPr lang="en-US" sz="1400" dirty="0"/>
          </a:p>
          <a:p>
            <a:pPr indent="0" marL="0">
              <a:spcAft>
                <a:spcPts val="600"/>
              </a:spcAft>
              <a:buNone/>
            </a:pPr>
            <a:r>
              <a:rPr lang="en-US" sz="1600" dirty="0">
                <a:solidFill>
                  <a:schemeClr val="tx1"/>
                </a:solidFill>
              </a:rPr>
              <a:t>Cortex thins early, spreading from posterior to anterior regions</a:t>
            </a:r>
            <a:endParaRPr lang="en-US" sz="1400" dirty="0"/>
          </a:p>
        </p:txBody>
      </p:sp>
      <p:sp>
        <p:nvSpPr>
          <p:cNvPr id="8" name="study-1-card"/>
          <p:cNvSpPr/>
          <p:nvPr/>
        </p:nvSpPr>
        <p:spPr>
          <a:xfrm>
            <a:off x="4337304" y="1371600"/>
            <a:ext cx="3514344" cy="2011680"/>
          </a:xfrm>
          <a:prstGeom prst="roundRect">
            <a:avLst>
              <a:gd name="adj" fmla="val 4545"/>
            </a:avLst>
          </a:prstGeom>
          <a:solidFill>
            <a:schemeClr val="bg1"/>
          </a:solidFill>
          <a:ln w="12700">
            <a:solidFill>
              <a:schemeClr val="accent6"/>
            </a:solidFill>
            <a:prstDash val="solid"/>
          </a:ln>
          <a:effectLst>
            <a:outerShdw sx="100000" sy="100000" kx="0" ky="0" algn="bl" rotWithShape="0" blurRad="76200" dist="25400" dir="5400000">
              <a:srgbClr val="16213A">
                <a:alpha val="10000"/>
              </a:srgbClr>
            </a:outerShdw>
          </a:effectLst>
        </p:spPr>
      </p:sp>
      <p:sp>
        <p:nvSpPr>
          <p:cNvPr id="9" name="study-1-circle"/>
          <p:cNvSpPr/>
          <p:nvPr/>
        </p:nvSpPr>
        <p:spPr>
          <a:xfrm>
            <a:off x="7165848" y="1572768"/>
            <a:ext cx="457200" cy="457200"/>
          </a:xfrm>
          <a:prstGeom prst="ellipse">
            <a:avLst/>
          </a:prstGeom>
          <a:solidFill>
            <a:schemeClr val="accent1"/>
          </a:solidFill>
          <a:ln w="12700">
            <a:solidFill>
              <a:schemeClr val="accent1"/>
            </a:solidFill>
            <a:prstDash val="solid"/>
          </a:ln>
        </p:spPr>
      </p:sp>
      <p:pic>
        <p:nvPicPr>
          <p:cNvPr id="10" name="study-1-icon" descr="MRI · stage I–II patients">    </p:cNvPr>
          <p:cNvPicPr>
            <a:picLocks noChangeAspect="1"/>
          </p:cNvPicPr>
          <p:nvPr/>
        </p:nvPicPr>
        <p:blipFill>
          <a:blip r:embed="rId2"/>
          <a:stretch>
            <a:fillRect/>
          </a:stretch>
        </p:blipFill>
        <p:spPr>
          <a:xfrm>
            <a:off x="7280148" y="1687068"/>
            <a:ext cx="228600" cy="228600"/>
          </a:xfrm>
          <a:prstGeom prst="rect">
            <a:avLst/>
          </a:prstGeom>
        </p:spPr>
      </p:pic>
      <p:sp>
        <p:nvSpPr>
          <p:cNvPr id="11" name="study-1-text"/>
          <p:cNvSpPr txBox="1"/>
          <p:nvPr/>
        </p:nvSpPr>
        <p:spPr>
          <a:xfrm>
            <a:off x="4565904" y="1572768"/>
            <a:ext cx="2508504" cy="1609344"/>
          </a:xfrm>
          <a:prstGeom prst="rect">
            <a:avLst/>
          </a:prstGeom>
          <a:noFill/>
          <a:ln/>
        </p:spPr>
        <p:txBody>
          <a:bodyPr wrap="square" lIns="0" tIns="0" rIns="0" bIns="0" rtlCol="0" anchor="t"/>
          <a:lstStyle/>
          <a:p>
            <a:pPr indent="0" marL="0">
              <a:spcAft>
                <a:spcPts val="600"/>
              </a:spcAft>
              <a:buNone/>
            </a:pPr>
            <a:r>
              <a:rPr lang="en-US" sz="1400" b="1" dirty="0">
                <a:solidFill>
                  <a:schemeClr val="accent1"/>
                </a:solidFill>
              </a:rPr>
              <a:t>2008 · Rosas et al.</a:t>
            </a:r>
            <a:endParaRPr lang="en-US" sz="1400" dirty="0"/>
          </a:p>
          <a:p>
            <a:pPr indent="0" marL="0">
              <a:spcAft>
                <a:spcPts val="600"/>
              </a:spcAft>
              <a:buNone/>
            </a:pPr>
            <a:r>
              <a:rPr lang="en-US" sz="1200" dirty="0">
                <a:solidFill>
                  <a:schemeClr val="accent5"/>
                </a:solidFill>
              </a:rPr>
              <a:t>MRI · stage I–II patients</a:t>
            </a:r>
            <a:endParaRPr lang="en-US" sz="1400" dirty="0"/>
          </a:p>
          <a:p>
            <a:pPr indent="0" marL="0">
              <a:spcAft>
                <a:spcPts val="600"/>
              </a:spcAft>
              <a:buNone/>
            </a:pPr>
            <a:r>
              <a:rPr lang="en-US" sz="1600" dirty="0">
                <a:solidFill>
                  <a:schemeClr val="tx1"/>
                </a:solidFill>
              </a:rPr>
              <a:t>Occipital and sensorimotor cortex already thin; anterior frontal spared</a:t>
            </a:r>
            <a:endParaRPr lang="en-US" sz="1400" dirty="0"/>
          </a:p>
        </p:txBody>
      </p:sp>
      <p:sp>
        <p:nvSpPr>
          <p:cNvPr id="12" name="study-2-card"/>
          <p:cNvSpPr/>
          <p:nvPr/>
        </p:nvSpPr>
        <p:spPr>
          <a:xfrm>
            <a:off x="8125968" y="1371600"/>
            <a:ext cx="3514344" cy="2011680"/>
          </a:xfrm>
          <a:prstGeom prst="roundRect">
            <a:avLst>
              <a:gd name="adj" fmla="val 4545"/>
            </a:avLst>
          </a:prstGeom>
          <a:solidFill>
            <a:schemeClr val="bg1"/>
          </a:solidFill>
          <a:ln w="12700">
            <a:solidFill>
              <a:schemeClr val="accent6"/>
            </a:solidFill>
            <a:prstDash val="solid"/>
          </a:ln>
          <a:effectLst>
            <a:outerShdw sx="100000" sy="100000" kx="0" ky="0" algn="bl" rotWithShape="0" blurRad="76200" dist="25400" dir="5400000">
              <a:srgbClr val="16213A">
                <a:alpha val="10000"/>
              </a:srgbClr>
            </a:outerShdw>
          </a:effectLst>
        </p:spPr>
      </p:sp>
      <p:sp>
        <p:nvSpPr>
          <p:cNvPr id="13" name="study-2-circle"/>
          <p:cNvSpPr/>
          <p:nvPr/>
        </p:nvSpPr>
        <p:spPr>
          <a:xfrm>
            <a:off x="10954512" y="1572768"/>
            <a:ext cx="457200" cy="457200"/>
          </a:xfrm>
          <a:prstGeom prst="ellipse">
            <a:avLst/>
          </a:prstGeom>
          <a:solidFill>
            <a:schemeClr val="accent1"/>
          </a:solidFill>
          <a:ln w="12700">
            <a:solidFill>
              <a:schemeClr val="accent1"/>
            </a:solidFill>
            <a:prstDash val="solid"/>
          </a:ln>
        </p:spPr>
      </p:sp>
      <p:pic>
        <p:nvPicPr>
          <p:cNvPr id="14" name="study-2-icon" descr="Post-mortem neuron counts">    </p:cNvPr>
          <p:cNvPicPr>
            <a:picLocks noChangeAspect="1"/>
          </p:cNvPicPr>
          <p:nvPr/>
        </p:nvPicPr>
        <p:blipFill>
          <a:blip r:embed="rId3"/>
          <a:stretch>
            <a:fillRect/>
          </a:stretch>
        </p:blipFill>
        <p:spPr>
          <a:xfrm>
            <a:off x="11068812" y="1687068"/>
            <a:ext cx="228600" cy="228600"/>
          </a:xfrm>
          <a:prstGeom prst="rect">
            <a:avLst/>
          </a:prstGeom>
        </p:spPr>
      </p:pic>
      <p:sp>
        <p:nvSpPr>
          <p:cNvPr id="15" name="study-2-text"/>
          <p:cNvSpPr txBox="1"/>
          <p:nvPr/>
        </p:nvSpPr>
        <p:spPr>
          <a:xfrm>
            <a:off x="8354568" y="1572768"/>
            <a:ext cx="2508504" cy="1609344"/>
          </a:xfrm>
          <a:prstGeom prst="rect">
            <a:avLst/>
          </a:prstGeom>
          <a:noFill/>
          <a:ln/>
        </p:spPr>
        <p:txBody>
          <a:bodyPr wrap="square" lIns="0" tIns="0" rIns="0" bIns="0" rtlCol="0" anchor="t"/>
          <a:lstStyle/>
          <a:p>
            <a:pPr indent="0" marL="0">
              <a:spcAft>
                <a:spcPts val="600"/>
              </a:spcAft>
              <a:buNone/>
            </a:pPr>
            <a:r>
              <a:rPr lang="en-US" sz="1400" b="1" dirty="0">
                <a:solidFill>
                  <a:schemeClr val="accent1"/>
                </a:solidFill>
              </a:rPr>
              <a:t>2014–15 · Nana; Rüb</a:t>
            </a:r>
            <a:endParaRPr lang="en-US" sz="1400" dirty="0"/>
          </a:p>
          <a:p>
            <a:pPr indent="0" marL="0">
              <a:spcAft>
                <a:spcPts val="600"/>
              </a:spcAft>
              <a:buNone/>
            </a:pPr>
            <a:r>
              <a:rPr lang="en-US" sz="1200" dirty="0">
                <a:solidFill>
                  <a:schemeClr val="accent5"/>
                </a:solidFill>
              </a:rPr>
              <a:t>Post-mortem neuron counts</a:t>
            </a:r>
            <a:endParaRPr lang="en-US" sz="1400" dirty="0"/>
          </a:p>
          <a:p>
            <a:pPr indent="0" marL="0">
              <a:spcAft>
                <a:spcPts val="600"/>
              </a:spcAft>
              <a:buNone/>
            </a:pPr>
            <a:r>
              <a:rPr lang="en-US" sz="1600" dirty="0">
                <a:solidFill>
                  <a:schemeClr val="tx1"/>
                </a:solidFill>
              </a:rPr>
              <a:t>Neurons lost across the cortex; data on primary visual cortex conflict (spared vs −32%)</a:t>
            </a:r>
            <a:endParaRPr lang="en-US" sz="1400" dirty="0"/>
          </a:p>
        </p:txBody>
      </p:sp>
      <p:sp>
        <p:nvSpPr>
          <p:cNvPr id="16" name="study-3-card"/>
          <p:cNvSpPr/>
          <p:nvPr/>
        </p:nvSpPr>
        <p:spPr>
          <a:xfrm>
            <a:off x="548640" y="3657600"/>
            <a:ext cx="3514344" cy="2011680"/>
          </a:xfrm>
          <a:prstGeom prst="roundRect">
            <a:avLst>
              <a:gd name="adj" fmla="val 4545"/>
            </a:avLst>
          </a:prstGeom>
          <a:solidFill>
            <a:schemeClr val="bg1"/>
          </a:solidFill>
          <a:ln w="28575">
            <a:solidFill>
              <a:schemeClr val="accent2"/>
            </a:solidFill>
            <a:prstDash val="solid"/>
          </a:ln>
          <a:effectLst>
            <a:outerShdw sx="100000" sy="100000" kx="0" ky="0" algn="bl" rotWithShape="0" blurRad="76200" dist="25400" dir="5400000">
              <a:srgbClr val="16213A">
                <a:alpha val="10000"/>
              </a:srgbClr>
            </a:outerShdw>
          </a:effectLst>
        </p:spPr>
      </p:sp>
      <p:sp>
        <p:nvSpPr>
          <p:cNvPr id="17" name="study-3-circle"/>
          <p:cNvSpPr/>
          <p:nvPr/>
        </p:nvSpPr>
        <p:spPr>
          <a:xfrm>
            <a:off x="3377184" y="3858768"/>
            <a:ext cx="457200" cy="457200"/>
          </a:xfrm>
          <a:prstGeom prst="ellipse">
            <a:avLst/>
          </a:prstGeom>
          <a:solidFill>
            <a:schemeClr val="accent2"/>
          </a:solidFill>
          <a:ln w="12700">
            <a:solidFill>
              <a:schemeClr val="accent2"/>
            </a:solidFill>
            <a:prstDash val="solid"/>
          </a:ln>
        </p:spPr>
      </p:sp>
      <p:pic>
        <p:nvPicPr>
          <p:cNvPr id="18" name="study-3-icon" descr="TRACK-HD MRI · n = 275 · same study as our data">    </p:cNvPr>
          <p:cNvPicPr>
            <a:picLocks noChangeAspect="1"/>
          </p:cNvPicPr>
          <p:nvPr/>
        </p:nvPicPr>
        <p:blipFill>
          <a:blip r:embed="rId4"/>
          <a:stretch>
            <a:fillRect/>
          </a:stretch>
        </p:blipFill>
        <p:spPr>
          <a:xfrm>
            <a:off x="3491484" y="3973068"/>
            <a:ext cx="228600" cy="228600"/>
          </a:xfrm>
          <a:prstGeom prst="rect">
            <a:avLst/>
          </a:prstGeom>
        </p:spPr>
      </p:pic>
      <p:sp>
        <p:nvSpPr>
          <p:cNvPr id="19" name="study-3-text"/>
          <p:cNvSpPr txBox="1"/>
          <p:nvPr/>
        </p:nvSpPr>
        <p:spPr>
          <a:xfrm>
            <a:off x="777240" y="3858768"/>
            <a:ext cx="2508504" cy="1609344"/>
          </a:xfrm>
          <a:prstGeom prst="rect">
            <a:avLst/>
          </a:prstGeom>
          <a:noFill/>
          <a:ln/>
        </p:spPr>
        <p:txBody>
          <a:bodyPr wrap="square" lIns="0" tIns="0" rIns="0" bIns="0" rtlCol="0" anchor="t"/>
          <a:lstStyle/>
          <a:p>
            <a:pPr indent="0" marL="0">
              <a:spcAft>
                <a:spcPts val="600"/>
              </a:spcAft>
              <a:buNone/>
            </a:pPr>
            <a:r>
              <a:rPr lang="en-US" sz="1400" b="1" dirty="0">
                <a:solidFill>
                  <a:schemeClr val="accent1"/>
                </a:solidFill>
              </a:rPr>
              <a:t>2015 · Johnson et al.</a:t>
            </a:r>
            <a:endParaRPr lang="en-US" sz="1400" dirty="0"/>
          </a:p>
          <a:p>
            <a:pPr indent="0" marL="0">
              <a:spcAft>
                <a:spcPts val="600"/>
              </a:spcAft>
              <a:buNone/>
            </a:pPr>
            <a:r>
              <a:rPr lang="en-US" sz="1200" b="1" dirty="0">
                <a:solidFill>
                  <a:schemeClr val="accent2"/>
                </a:solidFill>
              </a:rPr>
              <a:t>TRACK-HD MRI · n = 275 · same study as our data</a:t>
            </a:r>
            <a:endParaRPr lang="en-US" sz="1400" dirty="0"/>
          </a:p>
          <a:p>
            <a:pPr indent="0" marL="0">
              <a:spcAft>
                <a:spcPts val="600"/>
              </a:spcAft>
              <a:buNone/>
            </a:pPr>
            <a:r>
              <a:rPr lang="en-US" sz="1600" dirty="0">
                <a:solidFill>
                  <a:schemeClr val="tx1"/>
                </a:solidFill>
              </a:rPr>
              <a:t>Occipital thinning even before symptoms; tracks worse visual-test scores</a:t>
            </a:r>
            <a:endParaRPr lang="en-US" sz="1400" dirty="0"/>
          </a:p>
        </p:txBody>
      </p:sp>
      <p:sp>
        <p:nvSpPr>
          <p:cNvPr id="20" name="study-4-card"/>
          <p:cNvSpPr/>
          <p:nvPr/>
        </p:nvSpPr>
        <p:spPr>
          <a:xfrm>
            <a:off x="4337304" y="3657600"/>
            <a:ext cx="3514344" cy="2011680"/>
          </a:xfrm>
          <a:prstGeom prst="roundRect">
            <a:avLst>
              <a:gd name="adj" fmla="val 4545"/>
            </a:avLst>
          </a:prstGeom>
          <a:solidFill>
            <a:schemeClr val="bg1"/>
          </a:solidFill>
          <a:ln w="12700">
            <a:solidFill>
              <a:schemeClr val="accent6"/>
            </a:solidFill>
            <a:prstDash val="solid"/>
          </a:ln>
          <a:effectLst>
            <a:outerShdw sx="100000" sy="100000" kx="0" ky="0" algn="bl" rotWithShape="0" blurRad="76200" dist="25400" dir="5400000">
              <a:srgbClr val="16213A">
                <a:alpha val="10000"/>
              </a:srgbClr>
            </a:outerShdw>
          </a:effectLst>
        </p:spPr>
      </p:sp>
      <p:sp>
        <p:nvSpPr>
          <p:cNvPr id="21" name="study-4-circle"/>
          <p:cNvSpPr/>
          <p:nvPr/>
        </p:nvSpPr>
        <p:spPr>
          <a:xfrm>
            <a:off x="7165848" y="3858768"/>
            <a:ext cx="457200" cy="457200"/>
          </a:xfrm>
          <a:prstGeom prst="ellipse">
            <a:avLst/>
          </a:prstGeom>
          <a:solidFill>
            <a:schemeClr val="accent1"/>
          </a:solidFill>
          <a:ln w="12700">
            <a:solidFill>
              <a:schemeClr val="accent1"/>
            </a:solidFill>
            <a:prstDash val="solid"/>
          </a:ln>
        </p:spPr>
      </p:sp>
      <p:pic>
        <p:nvPicPr>
          <p:cNvPr id="22" name="study-4-icon" descr="MRI + visual cognition">    </p:cNvPr>
          <p:cNvPicPr>
            <a:picLocks noChangeAspect="1"/>
          </p:cNvPicPr>
          <p:nvPr/>
        </p:nvPicPr>
        <p:blipFill>
          <a:blip r:embed="rId5"/>
          <a:stretch>
            <a:fillRect/>
          </a:stretch>
        </p:blipFill>
        <p:spPr>
          <a:xfrm>
            <a:off x="7280148" y="3973068"/>
            <a:ext cx="228600" cy="228600"/>
          </a:xfrm>
          <a:prstGeom prst="rect">
            <a:avLst/>
          </a:prstGeom>
        </p:spPr>
      </p:pic>
      <p:sp>
        <p:nvSpPr>
          <p:cNvPr id="23" name="study-4-text"/>
          <p:cNvSpPr txBox="1"/>
          <p:nvPr/>
        </p:nvSpPr>
        <p:spPr>
          <a:xfrm>
            <a:off x="4565904" y="3858768"/>
            <a:ext cx="2508504" cy="1609344"/>
          </a:xfrm>
          <a:prstGeom prst="rect">
            <a:avLst/>
          </a:prstGeom>
          <a:noFill/>
          <a:ln/>
        </p:spPr>
        <p:txBody>
          <a:bodyPr wrap="square" lIns="0" tIns="0" rIns="0" bIns="0" rtlCol="0" anchor="t"/>
          <a:lstStyle/>
          <a:p>
            <a:pPr indent="0" marL="0">
              <a:spcAft>
                <a:spcPts val="600"/>
              </a:spcAft>
              <a:buNone/>
            </a:pPr>
            <a:r>
              <a:rPr lang="en-US" sz="1400" b="1" dirty="0">
                <a:solidFill>
                  <a:schemeClr val="accent1"/>
                </a:solidFill>
              </a:rPr>
              <a:t>2016 · Labuschagne et al.</a:t>
            </a:r>
            <a:endParaRPr lang="en-US" sz="1400" dirty="0"/>
          </a:p>
          <a:p>
            <a:pPr indent="0" marL="0">
              <a:spcAft>
                <a:spcPts val="600"/>
              </a:spcAft>
              <a:buNone/>
            </a:pPr>
            <a:r>
              <a:rPr lang="en-US" sz="1200" dirty="0">
                <a:solidFill>
                  <a:schemeClr val="accent5"/>
                </a:solidFill>
              </a:rPr>
              <a:t>MRI + visual cognition</a:t>
            </a:r>
            <a:endParaRPr lang="en-US" sz="1400" dirty="0"/>
          </a:p>
          <a:p>
            <a:pPr indent="0" marL="0">
              <a:spcAft>
                <a:spcPts val="600"/>
              </a:spcAft>
              <a:buNone/>
            </a:pPr>
            <a:r>
              <a:rPr lang="en-US" sz="1600" dirty="0">
                <a:solidFill>
                  <a:schemeClr val="tx1"/>
                </a:solidFill>
              </a:rPr>
              <a:t>Visual search and mental rotation track posterior (parietal and occipital) volume</a:t>
            </a:r>
            <a:endParaRPr lang="en-US" sz="1400" dirty="0"/>
          </a:p>
        </p:txBody>
      </p:sp>
      <p:sp>
        <p:nvSpPr>
          <p:cNvPr id="24" name="study-5-card"/>
          <p:cNvSpPr/>
          <p:nvPr/>
        </p:nvSpPr>
        <p:spPr>
          <a:xfrm>
            <a:off x="8125968" y="3657600"/>
            <a:ext cx="3514344" cy="2011680"/>
          </a:xfrm>
          <a:prstGeom prst="roundRect">
            <a:avLst>
              <a:gd name="adj" fmla="val 4545"/>
            </a:avLst>
          </a:prstGeom>
          <a:solidFill>
            <a:schemeClr val="bg1"/>
          </a:solidFill>
          <a:ln w="12700">
            <a:solidFill>
              <a:schemeClr val="accent6"/>
            </a:solidFill>
            <a:prstDash val="solid"/>
          </a:ln>
          <a:effectLst>
            <a:outerShdw sx="100000" sy="100000" kx="0" ky="0" algn="bl" rotWithShape="0" blurRad="76200" dist="25400" dir="5400000">
              <a:srgbClr val="16213A">
                <a:alpha val="10000"/>
              </a:srgbClr>
            </a:outerShdw>
          </a:effectLst>
        </p:spPr>
      </p:sp>
      <p:sp>
        <p:nvSpPr>
          <p:cNvPr id="25" name="study-5-circle"/>
          <p:cNvSpPr/>
          <p:nvPr/>
        </p:nvSpPr>
        <p:spPr>
          <a:xfrm>
            <a:off x="10954512" y="3858768"/>
            <a:ext cx="457200" cy="457200"/>
          </a:xfrm>
          <a:prstGeom prst="ellipse">
            <a:avLst/>
          </a:prstGeom>
          <a:solidFill>
            <a:schemeClr val="accent1"/>
          </a:solidFill>
          <a:ln w="12700">
            <a:solidFill>
              <a:schemeClr val="accent1"/>
            </a:solidFill>
            <a:prstDash val="solid"/>
          </a:ln>
        </p:spPr>
      </p:sp>
      <p:pic>
        <p:nvPicPr>
          <p:cNvPr id="26" name="study-5-icon" descr="10-year longitudinal MRI">    </p:cNvPr>
          <p:cNvPicPr>
            <a:picLocks noChangeAspect="1"/>
          </p:cNvPicPr>
          <p:nvPr/>
        </p:nvPicPr>
        <p:blipFill>
          <a:blip r:embed="rId6"/>
          <a:stretch>
            <a:fillRect/>
          </a:stretch>
        </p:blipFill>
        <p:spPr>
          <a:xfrm>
            <a:off x="11068812" y="3973068"/>
            <a:ext cx="228600" cy="228600"/>
          </a:xfrm>
          <a:prstGeom prst="rect">
            <a:avLst/>
          </a:prstGeom>
        </p:spPr>
      </p:pic>
      <p:sp>
        <p:nvSpPr>
          <p:cNvPr id="27" name="study-5-text"/>
          <p:cNvSpPr txBox="1"/>
          <p:nvPr/>
        </p:nvSpPr>
        <p:spPr>
          <a:xfrm>
            <a:off x="8354568" y="3858768"/>
            <a:ext cx="2508504" cy="1609344"/>
          </a:xfrm>
          <a:prstGeom prst="rect">
            <a:avLst/>
          </a:prstGeom>
          <a:noFill/>
          <a:ln/>
        </p:spPr>
        <p:txBody>
          <a:bodyPr wrap="square" lIns="0" tIns="0" rIns="0" bIns="0" rtlCol="0" anchor="t"/>
          <a:lstStyle/>
          <a:p>
            <a:pPr indent="0" marL="0">
              <a:spcAft>
                <a:spcPts val="600"/>
              </a:spcAft>
              <a:buNone/>
            </a:pPr>
            <a:r>
              <a:rPr lang="en-US" sz="1400" b="1" dirty="0">
                <a:solidFill>
                  <a:schemeClr val="accent1"/>
                </a:solidFill>
              </a:rPr>
              <a:t>2021 · Johnson et al.</a:t>
            </a:r>
            <a:endParaRPr lang="en-US" sz="1400" dirty="0"/>
          </a:p>
          <a:p>
            <a:pPr indent="0" marL="0">
              <a:spcAft>
                <a:spcPts val="600"/>
              </a:spcAft>
              <a:buNone/>
            </a:pPr>
            <a:r>
              <a:rPr lang="en-US" sz="1200" dirty="0">
                <a:solidFill>
                  <a:schemeClr val="accent5"/>
                </a:solidFill>
              </a:rPr>
              <a:t>10-year longitudinal MRI</a:t>
            </a:r>
            <a:endParaRPr lang="en-US" sz="1400" dirty="0"/>
          </a:p>
          <a:p>
            <a:pPr indent="0" marL="0">
              <a:spcAft>
                <a:spcPts val="600"/>
              </a:spcAft>
              <a:buNone/>
            </a:pPr>
            <a:r>
              <a:rPr lang="en-US" sz="1600" dirty="0">
                <a:solidFill>
                  <a:schemeClr val="tx1"/>
                </a:solidFill>
              </a:rPr>
              <a:t>Occipital and parietal cortex atrophy fastest of all cortical regions</a:t>
            </a:r>
            <a:endParaRPr lang="en-US" sz="1400" dirty="0"/>
          </a:p>
        </p:txBody>
      </p:sp>
      <p:sp>
        <p:nvSpPr>
          <p:cNvPr id="25" name="Slide Number Placeholder 0"/>
          <p:cNvSpPr>
            <a:spLocks noGrp="1"/>
          </p:cNvSpPr>
          <p:nvPr>
            <p:ph type="sldNum" sz="quarter" idx="4294967295"/>
          </p:nvPr>
        </p:nvSpPr>
        <p:spPr>
          <a:xfrm>
            <a:off x="11183112" y="621792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What we expect in our 10 occipital ROIs</a:t>
            </a:r>
            <a:endParaRPr lang="en-US" sz="3200" dirty="0"/>
          </a:p>
        </p:txBody>
      </p:sp>
      <p:sp>
        <p:nvSpPr>
          <p:cNvPr id="3" name="Text 0"/>
          <p:cNvSpPr/>
          <p:nvPr>
            <p:ph idx="101" type="body" hasCustomPrompt="1"/>
          </p:nvPr>
        </p:nvSpPr>
        <p:spPr>
          <a:xfrm>
            <a:off x="548640" y="6217920"/>
            <a:ext cx="10058400" cy="320040"/>
          </a:xfrm>
          <a:prstGeom prst="rect">
            <a:avLst/>
          </a:prstGeom>
          <a:noFill/>
          <a:ln/>
        </p:spPr>
        <p:txBody>
          <a:bodyPr wrap="square" lIns="0" tIns="0" rIns="0" bIns="0" rtlCol="0" anchor="ctr"/>
          <a:lstStyle/>
          <a:p>
            <a:pPr indent="0" marL="0">
              <a:buNone/>
            </a:pPr>
            <a:r>
              <a:rPr lang="en-US" sz="1100" dirty="0">
                <a:solidFill>
                  <a:schemeClr val="accent5"/>
                </a:solidFill>
              </a:rPr>
              <a:t>FreeSurfer “lateral occipital” ≈ our IOG, MOG and part of SOG; calcarine V1 is split between our Cu and LG</a:t>
            </a:r>
            <a:endParaRPr lang="en-US" sz="1100" dirty="0"/>
          </a:p>
        </p:txBody>
      </p:sp>
      <p:sp>
        <p:nvSpPr>
          <p:cNvPr id="4" name="roi-Cu-card"/>
          <p:cNvSpPr/>
          <p:nvPr/>
        </p:nvSpPr>
        <p:spPr>
          <a:xfrm>
            <a:off x="548640" y="1371600"/>
            <a:ext cx="2035454" cy="2788920"/>
          </a:xfrm>
          <a:prstGeom prst="roundRect">
            <a:avLst>
              <a:gd name="adj" fmla="val 4492"/>
            </a:avLst>
          </a:prstGeom>
          <a:solidFill>
            <a:schemeClr val="bg1"/>
          </a:solidFill>
          <a:ln w="12700">
            <a:solidFill>
              <a:schemeClr val="accent6"/>
            </a:solidFill>
            <a:prstDash val="solid"/>
          </a:ln>
          <a:effectLst>
            <a:outerShdw sx="100000" sy="100000" kx="0" ky="0" algn="bl" rotWithShape="0" blurRad="76200" dist="25400" dir="5400000">
              <a:srgbClr val="16213A">
                <a:alpha val="10000"/>
              </a:srgbClr>
            </a:outerShdw>
          </a:effectLst>
        </p:spPr>
      </p:sp>
      <p:sp>
        <p:nvSpPr>
          <p:cNvPr id="5" name="roi-Cu-text"/>
          <p:cNvSpPr txBox="1"/>
          <p:nvPr/>
        </p:nvSpPr>
        <p:spPr>
          <a:xfrm>
            <a:off x="731520" y="1536192"/>
            <a:ext cx="1669694" cy="1965960"/>
          </a:xfrm>
          <a:prstGeom prst="rect">
            <a:avLst/>
          </a:prstGeom>
          <a:noFill/>
          <a:ln/>
        </p:spPr>
        <p:txBody>
          <a:bodyPr wrap="square" lIns="0" tIns="0" rIns="0" bIns="0" rtlCol="0" anchor="t"/>
          <a:lstStyle/>
          <a:p>
            <a:pPr indent="0" marL="0">
              <a:spcAft>
                <a:spcPts val="600"/>
              </a:spcAft>
              <a:buNone/>
            </a:pPr>
            <a:r>
              <a:rPr lang="en-US" sz="2800" b="1" dirty="0">
                <a:solidFill>
                  <a:schemeClr val="accent2"/>
                </a:solidFill>
                <a:latin typeface="Cambria" pitchFamily="34" charset="0"/>
                <a:ea typeface="Cambria" pitchFamily="34" charset="-122"/>
                <a:cs typeface="Cambria" pitchFamily="34" charset="-120"/>
              </a:rPr>
              <a:t>Cu</a:t>
            </a:r>
            <a:endParaRPr lang="en-US" sz="2800" dirty="0"/>
          </a:p>
          <a:p>
            <a:pPr indent="0" marL="0">
              <a:spcAft>
                <a:spcPts val="600"/>
              </a:spcAft>
              <a:buNone/>
            </a:pPr>
            <a:r>
              <a:rPr lang="en-US" sz="1200" dirty="0">
                <a:solidFill>
                  <a:schemeClr val="accent5"/>
                </a:solidFill>
              </a:rPr>
              <a:t>Cuneus</a:t>
            </a:r>
            <a:endParaRPr lang="en-US" sz="2800" dirty="0"/>
          </a:p>
          <a:p>
            <a:pPr indent="0" marL="0">
              <a:spcAft>
                <a:spcPts val="600"/>
              </a:spcAft>
              <a:buNone/>
            </a:pPr>
            <a:r>
              <a:rPr lang="en-US" sz="1400" dirty="0">
                <a:solidFill>
                  <a:schemeClr val="tx1"/>
                </a:solidFill>
              </a:rPr>
              <a:t>Thins in HD, but thinning is not linked to visual-task scores</a:t>
            </a:r>
            <a:endParaRPr lang="en-US" sz="2800" dirty="0"/>
          </a:p>
        </p:txBody>
      </p:sp>
      <p:sp>
        <p:nvSpPr>
          <p:cNvPr id="6" name="roi-Cu-source"/>
          <p:cNvSpPr txBox="1"/>
          <p:nvPr/>
        </p:nvSpPr>
        <p:spPr>
          <a:xfrm>
            <a:off x="731520" y="3538728"/>
            <a:ext cx="1669694" cy="457200"/>
          </a:xfrm>
          <a:prstGeom prst="rect">
            <a:avLst/>
          </a:prstGeom>
          <a:noFill/>
          <a:ln/>
        </p:spPr>
        <p:txBody>
          <a:bodyPr wrap="square" lIns="0" tIns="0" rIns="0" bIns="0" rtlCol="0" anchor="b"/>
          <a:lstStyle/>
          <a:p>
            <a:pPr indent="0" marL="0">
              <a:buNone/>
            </a:pPr>
            <a:r>
              <a:rPr lang="en-US" sz="1200" dirty="0">
                <a:solidFill>
                  <a:schemeClr val="accent1"/>
                </a:solidFill>
              </a:rPr>
              <a:t>Johnson 2015</a:t>
            </a:r>
            <a:endParaRPr lang="en-US" sz="1200" dirty="0"/>
          </a:p>
        </p:txBody>
      </p:sp>
      <p:sp>
        <p:nvSpPr>
          <p:cNvPr id="7" name="roi-LG-card"/>
          <p:cNvSpPr/>
          <p:nvPr/>
        </p:nvSpPr>
        <p:spPr>
          <a:xfrm>
            <a:off x="2812694" y="1371600"/>
            <a:ext cx="2035454" cy="2788920"/>
          </a:xfrm>
          <a:prstGeom prst="roundRect">
            <a:avLst>
              <a:gd name="adj" fmla="val 4492"/>
            </a:avLst>
          </a:prstGeom>
          <a:solidFill>
            <a:schemeClr val="bg1"/>
          </a:solidFill>
          <a:ln w="12700">
            <a:solidFill>
              <a:schemeClr val="accent6"/>
            </a:solidFill>
            <a:prstDash val="solid"/>
          </a:ln>
          <a:effectLst>
            <a:outerShdw sx="100000" sy="100000" kx="0" ky="0" algn="bl" rotWithShape="0" blurRad="76200" dist="25400" dir="5400000">
              <a:srgbClr val="16213A">
                <a:alpha val="10000"/>
              </a:srgbClr>
            </a:outerShdw>
          </a:effectLst>
        </p:spPr>
      </p:sp>
      <p:sp>
        <p:nvSpPr>
          <p:cNvPr id="8" name="roi-LG-text"/>
          <p:cNvSpPr txBox="1"/>
          <p:nvPr/>
        </p:nvSpPr>
        <p:spPr>
          <a:xfrm>
            <a:off x="2995574" y="1536192"/>
            <a:ext cx="1669694" cy="1965960"/>
          </a:xfrm>
          <a:prstGeom prst="rect">
            <a:avLst/>
          </a:prstGeom>
          <a:noFill/>
          <a:ln/>
        </p:spPr>
        <p:txBody>
          <a:bodyPr wrap="square" lIns="0" tIns="0" rIns="0" bIns="0" rtlCol="0" anchor="t"/>
          <a:lstStyle/>
          <a:p>
            <a:pPr indent="0" marL="0">
              <a:spcAft>
                <a:spcPts val="600"/>
              </a:spcAft>
              <a:buNone/>
            </a:pPr>
            <a:r>
              <a:rPr lang="en-US" sz="2800" b="1" dirty="0">
                <a:solidFill>
                  <a:schemeClr val="accent2"/>
                </a:solidFill>
                <a:latin typeface="Cambria" pitchFamily="34" charset="0"/>
                <a:ea typeface="Cambria" pitchFamily="34" charset="-122"/>
                <a:cs typeface="Cambria" pitchFamily="34" charset="-120"/>
              </a:rPr>
              <a:t>LG</a:t>
            </a:r>
            <a:endParaRPr lang="en-US" sz="2800" dirty="0"/>
          </a:p>
          <a:p>
            <a:pPr indent="0" marL="0">
              <a:spcAft>
                <a:spcPts val="600"/>
              </a:spcAft>
              <a:buNone/>
            </a:pPr>
            <a:r>
              <a:rPr lang="en-US" sz="1200" dirty="0">
                <a:solidFill>
                  <a:schemeClr val="accent5"/>
                </a:solidFill>
              </a:rPr>
              <a:t>Lingual gyrus</a:t>
            </a:r>
            <a:endParaRPr lang="en-US" sz="2800" dirty="0"/>
          </a:p>
          <a:p>
            <a:pPr indent="0" marL="0">
              <a:spcAft>
                <a:spcPts val="600"/>
              </a:spcAft>
              <a:buNone/>
            </a:pPr>
            <a:r>
              <a:rPr lang="en-US" sz="1400" dirty="0">
                <a:solidFill>
                  <a:schemeClr val="tx1"/>
                </a:solidFill>
              </a:rPr>
              <a:t>Thinning tracks worse visual cognition; weaker connectivity in manifest HD</a:t>
            </a:r>
            <a:endParaRPr lang="en-US" sz="2800" dirty="0"/>
          </a:p>
        </p:txBody>
      </p:sp>
      <p:sp>
        <p:nvSpPr>
          <p:cNvPr id="9" name="roi-LG-source"/>
          <p:cNvSpPr txBox="1"/>
          <p:nvPr/>
        </p:nvSpPr>
        <p:spPr>
          <a:xfrm>
            <a:off x="2995574" y="3538728"/>
            <a:ext cx="1669694" cy="457200"/>
          </a:xfrm>
          <a:prstGeom prst="rect">
            <a:avLst/>
          </a:prstGeom>
          <a:noFill/>
          <a:ln/>
        </p:spPr>
        <p:txBody>
          <a:bodyPr wrap="square" lIns="0" tIns="0" rIns="0" bIns="0" rtlCol="0" anchor="b"/>
          <a:lstStyle/>
          <a:p>
            <a:pPr indent="0" marL="0">
              <a:buNone/>
            </a:pPr>
            <a:r>
              <a:rPr lang="en-US" sz="1200" dirty="0">
                <a:solidFill>
                  <a:schemeClr val="accent1"/>
                </a:solidFill>
              </a:rPr>
              <a:t>Johnson 2015; Coppen 2018</a:t>
            </a:r>
            <a:endParaRPr lang="en-US" sz="1200" dirty="0"/>
          </a:p>
        </p:txBody>
      </p:sp>
      <p:sp>
        <p:nvSpPr>
          <p:cNvPr id="10" name="roi-IOG-card"/>
          <p:cNvSpPr/>
          <p:nvPr/>
        </p:nvSpPr>
        <p:spPr>
          <a:xfrm>
            <a:off x="5076749" y="1371600"/>
            <a:ext cx="2035454" cy="2788920"/>
          </a:xfrm>
          <a:prstGeom prst="roundRect">
            <a:avLst>
              <a:gd name="adj" fmla="val 4492"/>
            </a:avLst>
          </a:prstGeom>
          <a:solidFill>
            <a:schemeClr val="bg1"/>
          </a:solidFill>
          <a:ln w="12700">
            <a:solidFill>
              <a:schemeClr val="accent6"/>
            </a:solidFill>
            <a:prstDash val="solid"/>
          </a:ln>
          <a:effectLst>
            <a:outerShdw sx="100000" sy="100000" kx="0" ky="0" algn="bl" rotWithShape="0" blurRad="76200" dist="25400" dir="5400000">
              <a:srgbClr val="16213A">
                <a:alpha val="10000"/>
              </a:srgbClr>
            </a:outerShdw>
          </a:effectLst>
        </p:spPr>
      </p:sp>
      <p:sp>
        <p:nvSpPr>
          <p:cNvPr id="11" name="roi-IOG-text"/>
          <p:cNvSpPr txBox="1"/>
          <p:nvPr/>
        </p:nvSpPr>
        <p:spPr>
          <a:xfrm>
            <a:off x="5259629" y="1536192"/>
            <a:ext cx="1669694" cy="1965960"/>
          </a:xfrm>
          <a:prstGeom prst="rect">
            <a:avLst/>
          </a:prstGeom>
          <a:noFill/>
          <a:ln/>
        </p:spPr>
        <p:txBody>
          <a:bodyPr wrap="square" lIns="0" tIns="0" rIns="0" bIns="0" rtlCol="0" anchor="t"/>
          <a:lstStyle/>
          <a:p>
            <a:pPr indent="0" marL="0">
              <a:spcAft>
                <a:spcPts val="600"/>
              </a:spcAft>
              <a:buNone/>
            </a:pPr>
            <a:r>
              <a:rPr lang="en-US" sz="2800" b="1" dirty="0">
                <a:solidFill>
                  <a:schemeClr val="accent2"/>
                </a:solidFill>
                <a:latin typeface="Cambria" pitchFamily="34" charset="0"/>
                <a:ea typeface="Cambria" pitchFamily="34" charset="-122"/>
                <a:cs typeface="Cambria" pitchFamily="34" charset="-120"/>
              </a:rPr>
              <a:t>IOG</a:t>
            </a:r>
            <a:endParaRPr lang="en-US" sz="2800" dirty="0"/>
          </a:p>
          <a:p>
            <a:pPr indent="0" marL="0">
              <a:spcAft>
                <a:spcPts val="600"/>
              </a:spcAft>
              <a:buNone/>
            </a:pPr>
            <a:r>
              <a:rPr lang="en-US" sz="1200" dirty="0">
                <a:solidFill>
                  <a:schemeClr val="accent5"/>
                </a:solidFill>
              </a:rPr>
              <a:t>Inferior occipital gyrus</a:t>
            </a:r>
            <a:endParaRPr lang="en-US" sz="2800" dirty="0"/>
          </a:p>
          <a:p>
            <a:pPr indent="0" marL="0">
              <a:spcAft>
                <a:spcPts val="600"/>
              </a:spcAft>
              <a:buNone/>
            </a:pPr>
            <a:r>
              <a:rPr lang="en-US" sz="1400" dirty="0">
                <a:solidFill>
                  <a:schemeClr val="tx1"/>
                </a:solidFill>
              </a:rPr>
              <a:t>Lateral occipital cortex: thinning tracks worse visual cognition</a:t>
            </a:r>
            <a:endParaRPr lang="en-US" sz="2800" dirty="0"/>
          </a:p>
        </p:txBody>
      </p:sp>
      <p:sp>
        <p:nvSpPr>
          <p:cNvPr id="12" name="roi-IOG-source"/>
          <p:cNvSpPr txBox="1"/>
          <p:nvPr/>
        </p:nvSpPr>
        <p:spPr>
          <a:xfrm>
            <a:off x="5259629" y="3538728"/>
            <a:ext cx="1669694" cy="457200"/>
          </a:xfrm>
          <a:prstGeom prst="rect">
            <a:avLst/>
          </a:prstGeom>
          <a:noFill/>
          <a:ln/>
        </p:spPr>
        <p:txBody>
          <a:bodyPr wrap="square" lIns="0" tIns="0" rIns="0" bIns="0" rtlCol="0" anchor="b"/>
          <a:lstStyle/>
          <a:p>
            <a:pPr indent="0" marL="0">
              <a:buNone/>
            </a:pPr>
            <a:r>
              <a:rPr lang="en-US" sz="1200" dirty="0">
                <a:solidFill>
                  <a:schemeClr val="accent1"/>
                </a:solidFill>
              </a:rPr>
              <a:t>Johnson 2015</a:t>
            </a:r>
            <a:endParaRPr lang="en-US" sz="1200" dirty="0"/>
          </a:p>
        </p:txBody>
      </p:sp>
      <p:sp>
        <p:nvSpPr>
          <p:cNvPr id="13" name="roi-MOG-card"/>
          <p:cNvSpPr/>
          <p:nvPr/>
        </p:nvSpPr>
        <p:spPr>
          <a:xfrm>
            <a:off x="7340803" y="1371600"/>
            <a:ext cx="2035454" cy="2788920"/>
          </a:xfrm>
          <a:prstGeom prst="roundRect">
            <a:avLst>
              <a:gd name="adj" fmla="val 4492"/>
            </a:avLst>
          </a:prstGeom>
          <a:solidFill>
            <a:schemeClr val="bg1"/>
          </a:solidFill>
          <a:ln w="12700">
            <a:solidFill>
              <a:schemeClr val="accent6"/>
            </a:solidFill>
            <a:prstDash val="solid"/>
          </a:ln>
          <a:effectLst>
            <a:outerShdw sx="100000" sy="100000" kx="0" ky="0" algn="bl" rotWithShape="0" blurRad="76200" dist="25400" dir="5400000">
              <a:srgbClr val="16213A">
                <a:alpha val="10000"/>
              </a:srgbClr>
            </a:outerShdw>
          </a:effectLst>
        </p:spPr>
      </p:sp>
      <p:sp>
        <p:nvSpPr>
          <p:cNvPr id="14" name="roi-MOG-text"/>
          <p:cNvSpPr txBox="1"/>
          <p:nvPr/>
        </p:nvSpPr>
        <p:spPr>
          <a:xfrm>
            <a:off x="7523683" y="1536192"/>
            <a:ext cx="1669694" cy="1965960"/>
          </a:xfrm>
          <a:prstGeom prst="rect">
            <a:avLst/>
          </a:prstGeom>
          <a:noFill/>
          <a:ln/>
        </p:spPr>
        <p:txBody>
          <a:bodyPr wrap="square" lIns="0" tIns="0" rIns="0" bIns="0" rtlCol="0" anchor="t"/>
          <a:lstStyle/>
          <a:p>
            <a:pPr indent="0" marL="0">
              <a:spcAft>
                <a:spcPts val="600"/>
              </a:spcAft>
              <a:buNone/>
            </a:pPr>
            <a:r>
              <a:rPr lang="en-US" sz="2800" b="1" dirty="0">
                <a:solidFill>
                  <a:schemeClr val="accent2"/>
                </a:solidFill>
                <a:latin typeface="Cambria" pitchFamily="34" charset="0"/>
                <a:ea typeface="Cambria" pitchFamily="34" charset="-122"/>
                <a:cs typeface="Cambria" pitchFamily="34" charset="-120"/>
              </a:rPr>
              <a:t>MOG</a:t>
            </a:r>
            <a:endParaRPr lang="en-US" sz="2800" dirty="0"/>
          </a:p>
          <a:p>
            <a:pPr indent="0" marL="0">
              <a:spcAft>
                <a:spcPts val="600"/>
              </a:spcAft>
              <a:buNone/>
            </a:pPr>
            <a:r>
              <a:rPr lang="en-US" sz="1200" dirty="0">
                <a:solidFill>
                  <a:schemeClr val="accent5"/>
                </a:solidFill>
              </a:rPr>
              <a:t>Middle occipital gyrus</a:t>
            </a:r>
            <a:endParaRPr lang="en-US" sz="2800" dirty="0"/>
          </a:p>
          <a:p>
            <a:pPr indent="0" marL="0">
              <a:spcAft>
                <a:spcPts val="600"/>
              </a:spcAft>
              <a:buNone/>
            </a:pPr>
            <a:r>
              <a:rPr lang="en-US" sz="1400" dirty="0">
                <a:solidFill>
                  <a:schemeClr val="tx1"/>
                </a:solidFill>
              </a:rPr>
              <a:t>Also lateral occipital; occipital cortex atrophies fastest over 10 years</a:t>
            </a:r>
            <a:endParaRPr lang="en-US" sz="2800" dirty="0"/>
          </a:p>
        </p:txBody>
      </p:sp>
      <p:sp>
        <p:nvSpPr>
          <p:cNvPr id="15" name="roi-MOG-source"/>
          <p:cNvSpPr txBox="1"/>
          <p:nvPr/>
        </p:nvSpPr>
        <p:spPr>
          <a:xfrm>
            <a:off x="7523683" y="3538728"/>
            <a:ext cx="1669694" cy="457200"/>
          </a:xfrm>
          <a:prstGeom prst="rect">
            <a:avLst/>
          </a:prstGeom>
          <a:noFill/>
          <a:ln/>
        </p:spPr>
        <p:txBody>
          <a:bodyPr wrap="square" lIns="0" tIns="0" rIns="0" bIns="0" rtlCol="0" anchor="b"/>
          <a:lstStyle/>
          <a:p>
            <a:pPr indent="0" marL="0">
              <a:buNone/>
            </a:pPr>
            <a:r>
              <a:rPr lang="en-US" sz="1200" dirty="0">
                <a:solidFill>
                  <a:schemeClr val="accent1"/>
                </a:solidFill>
              </a:rPr>
              <a:t>Johnson 2015; 2021</a:t>
            </a:r>
            <a:endParaRPr lang="en-US" sz="1200" dirty="0"/>
          </a:p>
        </p:txBody>
      </p:sp>
      <p:sp>
        <p:nvSpPr>
          <p:cNvPr id="16" name="roi-SOG-card"/>
          <p:cNvSpPr/>
          <p:nvPr/>
        </p:nvSpPr>
        <p:spPr>
          <a:xfrm>
            <a:off x="9604858" y="1371600"/>
            <a:ext cx="2035454" cy="2788920"/>
          </a:xfrm>
          <a:prstGeom prst="roundRect">
            <a:avLst>
              <a:gd name="adj" fmla="val 4492"/>
            </a:avLst>
          </a:prstGeom>
          <a:solidFill>
            <a:schemeClr val="bg1"/>
          </a:solidFill>
          <a:ln w="12700">
            <a:solidFill>
              <a:schemeClr val="accent6"/>
            </a:solidFill>
            <a:prstDash val="solid"/>
          </a:ln>
          <a:effectLst>
            <a:outerShdw sx="100000" sy="100000" kx="0" ky="0" algn="bl" rotWithShape="0" blurRad="76200" dist="25400" dir="5400000">
              <a:srgbClr val="16213A">
                <a:alpha val="10000"/>
              </a:srgbClr>
            </a:outerShdw>
          </a:effectLst>
        </p:spPr>
      </p:sp>
      <p:sp>
        <p:nvSpPr>
          <p:cNvPr id="17" name="roi-SOG-text"/>
          <p:cNvSpPr txBox="1"/>
          <p:nvPr/>
        </p:nvSpPr>
        <p:spPr>
          <a:xfrm>
            <a:off x="9787738" y="1536192"/>
            <a:ext cx="1669694" cy="1965960"/>
          </a:xfrm>
          <a:prstGeom prst="rect">
            <a:avLst/>
          </a:prstGeom>
          <a:noFill/>
          <a:ln/>
        </p:spPr>
        <p:txBody>
          <a:bodyPr wrap="square" lIns="0" tIns="0" rIns="0" bIns="0" rtlCol="0" anchor="t"/>
          <a:lstStyle/>
          <a:p>
            <a:pPr indent="0" marL="0">
              <a:spcAft>
                <a:spcPts val="600"/>
              </a:spcAft>
              <a:buNone/>
            </a:pPr>
            <a:r>
              <a:rPr lang="en-US" sz="2800" b="1" dirty="0">
                <a:solidFill>
                  <a:schemeClr val="accent2"/>
                </a:solidFill>
                <a:latin typeface="Cambria" pitchFamily="34" charset="0"/>
                <a:ea typeface="Cambria" pitchFamily="34" charset="-122"/>
                <a:cs typeface="Cambria" pitchFamily="34" charset="-120"/>
              </a:rPr>
              <a:t>SOG</a:t>
            </a:r>
            <a:endParaRPr lang="en-US" sz="2800" dirty="0"/>
          </a:p>
          <a:p>
            <a:pPr indent="0" marL="0">
              <a:spcAft>
                <a:spcPts val="600"/>
              </a:spcAft>
              <a:buNone/>
            </a:pPr>
            <a:r>
              <a:rPr lang="en-US" sz="1200" dirty="0">
                <a:solidFill>
                  <a:schemeClr val="accent5"/>
                </a:solidFill>
              </a:rPr>
              <a:t>Superior occipital gyrus</a:t>
            </a:r>
            <a:endParaRPr lang="en-US" sz="2800" dirty="0"/>
          </a:p>
          <a:p>
            <a:pPr indent="0" marL="0">
              <a:spcAft>
                <a:spcPts val="600"/>
              </a:spcAft>
              <a:buNone/>
            </a:pPr>
            <a:r>
              <a:rPr lang="en-US" sz="1400" dirty="0">
                <a:solidFill>
                  <a:schemeClr val="tx1"/>
                </a:solidFill>
              </a:rPr>
              <a:t>Dorsal-stream zone: posterior volume tracks visual search and mental rotation</a:t>
            </a:r>
            <a:endParaRPr lang="en-US" sz="2800" dirty="0"/>
          </a:p>
        </p:txBody>
      </p:sp>
      <p:sp>
        <p:nvSpPr>
          <p:cNvPr id="18" name="roi-SOG-source"/>
          <p:cNvSpPr txBox="1"/>
          <p:nvPr/>
        </p:nvSpPr>
        <p:spPr>
          <a:xfrm>
            <a:off x="9787738" y="3538728"/>
            <a:ext cx="1669694" cy="457200"/>
          </a:xfrm>
          <a:prstGeom prst="rect">
            <a:avLst/>
          </a:prstGeom>
          <a:noFill/>
          <a:ln/>
        </p:spPr>
        <p:txBody>
          <a:bodyPr wrap="square" lIns="0" tIns="0" rIns="0" bIns="0" rtlCol="0" anchor="b"/>
          <a:lstStyle/>
          <a:p>
            <a:pPr indent="0" marL="0">
              <a:buNone/>
            </a:pPr>
            <a:r>
              <a:rPr lang="en-US" sz="1200" dirty="0">
                <a:solidFill>
                  <a:schemeClr val="accent1"/>
                </a:solidFill>
              </a:rPr>
              <a:t>Labuschagne 2016</a:t>
            </a:r>
            <a:endParaRPr lang="en-US" sz="1200" dirty="0"/>
          </a:p>
        </p:txBody>
      </p:sp>
      <p:sp>
        <p:nvSpPr>
          <p:cNvPr id="19" name="hypothesis-band"/>
          <p:cNvSpPr/>
          <p:nvPr/>
        </p:nvSpPr>
        <p:spPr>
          <a:xfrm>
            <a:off x="548640" y="4434840"/>
            <a:ext cx="11091672" cy="1097280"/>
          </a:xfrm>
          <a:prstGeom prst="roundRect">
            <a:avLst>
              <a:gd name="adj" fmla="val 8333"/>
            </a:avLst>
          </a:prstGeom>
          <a:solidFill>
            <a:schemeClr val="tx1"/>
          </a:solidFill>
          <a:ln w="12700">
            <a:solidFill>
              <a:schemeClr val="tx1"/>
            </a:solidFill>
            <a:prstDash val="solid"/>
          </a:ln>
        </p:spPr>
      </p:sp>
      <p:sp>
        <p:nvSpPr>
          <p:cNvPr id="20" name="hypothesis-text"/>
          <p:cNvSpPr txBox="1"/>
          <p:nvPr/>
        </p:nvSpPr>
        <p:spPr>
          <a:xfrm>
            <a:off x="868680" y="4434840"/>
            <a:ext cx="10451592" cy="1097280"/>
          </a:xfrm>
          <a:prstGeom prst="rect">
            <a:avLst/>
          </a:prstGeom>
          <a:noFill/>
          <a:ln/>
        </p:spPr>
        <p:txBody>
          <a:bodyPr wrap="square" lIns="0" tIns="0" rIns="0" bIns="0" rtlCol="0" anchor="ctr"/>
          <a:lstStyle/>
          <a:p>
            <a:pPr indent="0" marL="0">
              <a:buNone/>
            </a:pPr>
            <a:r>
              <a:rPr lang="en-US" sz="1700" b="1" dirty="0">
                <a:solidFill>
                  <a:schemeClr val="bg1"/>
                </a:solidFill>
              </a:rPr>
              <a:t>Hypothesis for Task 4: </a:t>
            </a:r>
            <a:pPr indent="0" marL="0">
              <a:buNone/>
            </a:pPr>
            <a:r>
              <a:rPr lang="en-US" sz="1700" dirty="0">
                <a:solidFill>
                  <a:schemeClr val="bg1"/>
                </a:solidFill>
              </a:rPr>
              <a:t>HD subjects have smaller volumes than controls in all 10 occipital ROIs, left and right, with the lingual and lateral occipital gyri (IOG, MOG) most tied to symptoms.</a:t>
            </a:r>
            <a:endParaRPr lang="en-US" sz="1700" dirty="0"/>
          </a:p>
        </p:txBody>
      </p:sp>
      <p:sp>
        <p:nvSpPr>
          <p:cNvPr id="25" name="Slide Number Placeholder 0"/>
          <p:cNvSpPr>
            <a:spLocks noGrp="1"/>
          </p:cNvSpPr>
          <p:nvPr>
            <p:ph type="sldNum" sz="quarter" idx="4294967295"/>
          </p:nvPr>
        </p:nvSpPr>
        <p:spPr>
          <a:xfrm>
            <a:off x="11183112" y="621792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References: disease involvement and literature</a:t>
            </a:r>
            <a:endParaRPr lang="en-US" sz="3200" dirty="0"/>
          </a:p>
        </p:txBody>
      </p:sp>
      <p:sp>
        <p:nvSpPr>
          <p:cNvPr id="3" name="refs-left"/>
          <p:cNvSpPr txBox="1"/>
          <p:nvPr/>
        </p:nvSpPr>
        <p:spPr>
          <a:xfrm>
            <a:off x="548640" y="1371600"/>
            <a:ext cx="5349240" cy="4572000"/>
          </a:xfrm>
          <a:prstGeom prst="rect">
            <a:avLst/>
          </a:prstGeom>
          <a:noFill/>
          <a:ln/>
        </p:spPr>
        <p:txBody>
          <a:bodyPr wrap="square" lIns="0" tIns="0" rIns="0" bIns="0" rtlCol="0" anchor="t"/>
          <a:lstStyle/>
          <a:p>
            <a:pPr indent="0" marL="0">
              <a:spcAft>
                <a:spcPts val="1400"/>
              </a:spcAft>
              <a:buNone/>
            </a:pPr>
            <a:r>
              <a:rPr lang="en-US" sz="1600" dirty="0">
                <a:solidFill>
                  <a:schemeClr val="tx2"/>
                </a:solidFill>
              </a:rPr>
              <a:t>Coppen EM et al. (2018) Behav Brain Res 351:63–74</a:t>
            </a:r>
            <a:endParaRPr lang="en-US" sz="1600" dirty="0"/>
          </a:p>
          <a:p>
            <a:pPr indent="0" marL="0">
              <a:spcAft>
                <a:spcPts val="1400"/>
              </a:spcAft>
              <a:buNone/>
            </a:pPr>
            <a:r>
              <a:rPr lang="en-US" sz="1600" dirty="0">
                <a:solidFill>
                  <a:schemeClr val="tx2"/>
                </a:solidFill>
              </a:rPr>
              <a:t>Coppen EM et al. (2018) Hum Brain Mapp 39:4776–4786</a:t>
            </a:r>
            <a:endParaRPr lang="en-US" sz="1600" dirty="0"/>
          </a:p>
          <a:p>
            <a:pPr indent="0" marL="0">
              <a:spcAft>
                <a:spcPts val="1400"/>
              </a:spcAft>
              <a:buNone/>
            </a:pPr>
            <a:r>
              <a:rPr lang="en-US" sz="1600" dirty="0">
                <a:solidFill>
                  <a:schemeClr val="tx2"/>
                </a:solidFill>
              </a:rPr>
              <a:t>Dhalla A et al. (2019) J Huntingtons Dis 8:233–242</a:t>
            </a:r>
            <a:endParaRPr lang="en-US" sz="1600" dirty="0"/>
          </a:p>
          <a:p>
            <a:pPr indent="0" marL="0">
              <a:spcAft>
                <a:spcPts val="1400"/>
              </a:spcAft>
              <a:buNone/>
            </a:pPr>
            <a:r>
              <a:rPr lang="en-US" sz="1600" dirty="0">
                <a:solidFill>
                  <a:schemeClr val="tx2"/>
                </a:solidFill>
              </a:rPr>
              <a:t>HD Collaborative Research Group (1993) Cell 72:971–983</a:t>
            </a:r>
            <a:endParaRPr lang="en-US" sz="1600" dirty="0"/>
          </a:p>
          <a:p>
            <a:pPr indent="0" marL="0">
              <a:spcAft>
                <a:spcPts val="1400"/>
              </a:spcAft>
              <a:buNone/>
            </a:pPr>
            <a:r>
              <a:rPr lang="en-US" sz="1600" dirty="0">
                <a:solidFill>
                  <a:schemeClr val="tx2"/>
                </a:solidFill>
              </a:rPr>
              <a:t>HDSA. Overview of Huntington’s disease. hdsa.org</a:t>
            </a:r>
            <a:endParaRPr lang="en-US" sz="1600" dirty="0"/>
          </a:p>
          <a:p>
            <a:pPr indent="0" marL="0">
              <a:spcAft>
                <a:spcPts val="1400"/>
              </a:spcAft>
              <a:buNone/>
            </a:pPr>
            <a:r>
              <a:rPr lang="en-US" sz="1600" dirty="0">
                <a:solidFill>
                  <a:schemeClr val="tx2"/>
                </a:solidFill>
              </a:rPr>
              <a:t>Johnson EB et al. (2015) Neuropsychologia 79:138–146</a:t>
            </a:r>
            <a:endParaRPr lang="en-US" sz="1600" dirty="0"/>
          </a:p>
          <a:p>
            <a:pPr indent="0" marL="0">
              <a:spcAft>
                <a:spcPts val="1400"/>
              </a:spcAft>
              <a:buNone/>
            </a:pPr>
            <a:r>
              <a:rPr lang="en-US" sz="1600" dirty="0">
                <a:solidFill>
                  <a:schemeClr val="tx2"/>
                </a:solidFill>
              </a:rPr>
              <a:t>Johnson EB et al. (2021) Biol Psychiatry 89:807–816</a:t>
            </a:r>
            <a:endParaRPr lang="en-US" sz="1600" dirty="0"/>
          </a:p>
          <a:p>
            <a:pPr indent="0" marL="0">
              <a:spcAft>
                <a:spcPts val="1400"/>
              </a:spcAft>
              <a:buNone/>
            </a:pPr>
            <a:r>
              <a:rPr lang="en-US" sz="1600" dirty="0">
                <a:solidFill>
                  <a:schemeClr val="tx2"/>
                </a:solidFill>
              </a:rPr>
              <a:t>Labuschagne I et al. (2016) J Int Neuropsychol Soc 22:595–608</a:t>
            </a:r>
            <a:endParaRPr lang="en-US" sz="1600" dirty="0"/>
          </a:p>
        </p:txBody>
      </p:sp>
      <p:sp>
        <p:nvSpPr>
          <p:cNvPr id="4" name="refs-right"/>
          <p:cNvSpPr txBox="1"/>
          <p:nvPr/>
        </p:nvSpPr>
        <p:spPr>
          <a:xfrm>
            <a:off x="6291072" y="1371600"/>
            <a:ext cx="5349240" cy="4572000"/>
          </a:xfrm>
          <a:prstGeom prst="rect">
            <a:avLst/>
          </a:prstGeom>
          <a:noFill/>
          <a:ln/>
        </p:spPr>
        <p:txBody>
          <a:bodyPr wrap="square" lIns="0" tIns="0" rIns="0" bIns="0" rtlCol="0" anchor="t"/>
          <a:lstStyle/>
          <a:p>
            <a:pPr indent="0" marL="0">
              <a:spcAft>
                <a:spcPts val="1400"/>
              </a:spcAft>
              <a:buNone/>
            </a:pPr>
            <a:r>
              <a:rPr lang="en-US" sz="1600" dirty="0">
                <a:solidFill>
                  <a:schemeClr val="tx2"/>
                </a:solidFill>
              </a:rPr>
              <a:t>Nana AL et al. (2014) J Huntingtons Dis 3:45–64</a:t>
            </a:r>
            <a:endParaRPr lang="en-US" sz="1600" dirty="0"/>
          </a:p>
          <a:p>
            <a:pPr indent="0" marL="0">
              <a:spcAft>
                <a:spcPts val="1400"/>
              </a:spcAft>
              <a:buNone/>
            </a:pPr>
            <a:r>
              <a:rPr lang="en-US" sz="1600" dirty="0">
                <a:solidFill>
                  <a:schemeClr val="tx2"/>
                </a:solidFill>
              </a:rPr>
              <a:t>Paulsen JS et al. (2008) J Neurol Neurosurg Psychiatry 79:874–880</a:t>
            </a:r>
            <a:endParaRPr lang="en-US" sz="1600" dirty="0"/>
          </a:p>
          <a:p>
            <a:pPr indent="0" marL="0">
              <a:spcAft>
                <a:spcPts val="1400"/>
              </a:spcAft>
              <a:buNone/>
            </a:pPr>
            <a:r>
              <a:rPr lang="en-US" sz="1600" dirty="0">
                <a:solidFill>
                  <a:schemeClr val="tx2"/>
                </a:solidFill>
              </a:rPr>
              <a:t>Rosas HD et al. (2002) Neurology 58:695–701</a:t>
            </a:r>
            <a:endParaRPr lang="en-US" sz="1600" dirty="0"/>
          </a:p>
          <a:p>
            <a:pPr indent="0" marL="0">
              <a:spcAft>
                <a:spcPts val="1400"/>
              </a:spcAft>
              <a:buNone/>
            </a:pPr>
            <a:r>
              <a:rPr lang="en-US" sz="1600" dirty="0">
                <a:solidFill>
                  <a:schemeClr val="tx2"/>
                </a:solidFill>
              </a:rPr>
              <a:t>Rosas HD et al. (2008) Brain 131:1057–1068</a:t>
            </a:r>
            <a:endParaRPr lang="en-US" sz="1600" dirty="0"/>
          </a:p>
          <a:p>
            <a:pPr indent="0" marL="0">
              <a:spcAft>
                <a:spcPts val="1400"/>
              </a:spcAft>
              <a:buNone/>
            </a:pPr>
            <a:r>
              <a:rPr lang="en-US" sz="1600" dirty="0">
                <a:solidFill>
                  <a:schemeClr val="tx2"/>
                </a:solidFill>
              </a:rPr>
              <a:t>Rüb U et al. (2015) Brain Pathol 25:701–711</a:t>
            </a:r>
            <a:endParaRPr lang="en-US" sz="1600" dirty="0"/>
          </a:p>
          <a:p>
            <a:pPr indent="0" marL="0">
              <a:spcAft>
                <a:spcPts val="1400"/>
              </a:spcAft>
              <a:buNone/>
            </a:pPr>
            <a:r>
              <a:rPr lang="en-US" sz="1600" dirty="0">
                <a:solidFill>
                  <a:schemeClr val="tx2"/>
                </a:solidFill>
              </a:rPr>
              <a:t>Seger CA (2013) Front Syst Neurosci 7:104</a:t>
            </a:r>
            <a:endParaRPr lang="en-US" sz="1600" dirty="0"/>
          </a:p>
          <a:p>
            <a:pPr indent="0" marL="0">
              <a:spcAft>
                <a:spcPts val="1400"/>
              </a:spcAft>
              <a:buNone/>
            </a:pPr>
            <a:r>
              <a:rPr lang="en-US" sz="1600" dirty="0">
                <a:solidFill>
                  <a:schemeClr val="tx2"/>
                </a:solidFill>
              </a:rPr>
              <a:t>Tabrizi SJ et al. (2009) Lancet Neurol 8:791–801 (TRACK-HD)</a:t>
            </a:r>
            <a:endParaRPr lang="en-US" sz="1600" dirty="0"/>
          </a:p>
          <a:p>
            <a:pPr indent="0" marL="0">
              <a:spcAft>
                <a:spcPts val="1400"/>
              </a:spcAft>
              <a:buNone/>
            </a:pPr>
            <a:r>
              <a:rPr lang="en-US" sz="1600" dirty="0">
                <a:solidFill>
                  <a:schemeClr val="tx2"/>
                </a:solidFill>
              </a:rPr>
              <a:t>Tabrizi SJ et al. (2020) Nat Rev Neurol 16:529–546</a:t>
            </a:r>
            <a:endParaRPr lang="en-US" sz="1600" dirty="0"/>
          </a:p>
        </p:txBody>
      </p:sp>
      <p:sp>
        <p:nvSpPr>
          <p:cNvPr id="6" name="Text 0"/>
          <p:cNvSpPr/>
          <p:nvPr>
            <p:ph idx="101" type="body" hasCustomPrompt="1"/>
          </p:nvPr>
        </p:nvSpPr>
        <p:spPr>
          <a:xfrm>
            <a:off x="548640" y="6217920"/>
            <a:ext cx="10058400" cy="320040"/>
          </a:xfrm>
          <a:prstGeom prst="rect">
            <a:avLst/>
          </a:prstGeom>
          <a:noFill/>
          <a:ln/>
        </p:spPr>
        <p:txBody>
          <a:bodyPr wrap="square" lIns="0" tIns="0" rIns="0" bIns="0" rtlCol="0" anchor="ctr"/>
          <a:lstStyle/>
          <a:p>
            <a:pPr indent="0" marL="0">
              <a:buNone/>
            </a:pPr>
            <a:endParaRPr lang="en-US" sz="1100" dirty="0"/>
          </a:p>
        </p:txBody>
      </p:sp>
      <p:sp>
        <p:nvSpPr>
          <p:cNvPr id="25" name="Slide Number Placeholder 0"/>
          <p:cNvSpPr>
            <a:spLocks noGrp="1"/>
          </p:cNvSpPr>
          <p:nvPr>
            <p:ph type="sldNum" sz="quarter" idx="4294967295"/>
          </p:nvPr>
        </p:nvSpPr>
        <p:spPr>
          <a:xfrm>
            <a:off x="11183112" y="621792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HD Occipital">
  <a:themeElements>
    <a:clrScheme name="HD Occipital">
      <a:dk1>
        <a:srgbClr val="16213A"/>
      </a:dk1>
      <a:lt1>
        <a:srgbClr val="FFFFFF"/>
      </a:lt1>
      <a:dk2>
        <a:srgbClr val="3E4756"/>
      </a:dk2>
      <a:lt2>
        <a:srgbClr val="F1F4F8"/>
      </a:lt2>
      <a:accent1>
        <a:srgbClr val="2C64A8"/>
      </a:accent1>
      <a:accent2>
        <a:srgbClr val="B0521A"/>
      </a:accent2>
      <a:accent3>
        <a:srgbClr val="DCE7F4"/>
      </a:accent3>
      <a:accent4>
        <a:srgbClr val="F7E2CF"/>
      </a:accent4>
      <a:accent5>
        <a:srgbClr val="5B6573"/>
      </a:accent5>
      <a:accent6>
        <a:srgbClr val="C9D0DA"/>
      </a:accent6>
      <a:hlink>
        <a:srgbClr val="2C64A8"/>
      </a:hlink>
      <a:folHlink>
        <a:srgbClr val="6D3FA0"/>
      </a:folHlink>
    </a:clrScheme>
    <a:fontScheme name="HD Occipit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Huntington's disease and the occipital lobe (Task 2)</dc:title>
  <dc:subject>ICM Fall 2026 final project, Group 1</dc:subject>
  <dc:creator>PptxGenJS</dc:creator>
  <cp:lastModifiedBy>PptxGenJS</cp:lastModifiedBy>
  <cp:revision>1</cp:revision>
  <dcterms:created xsi:type="dcterms:W3CDTF">2026-10-17T18:12:03Z</dcterms:created>
  <dcterms:modified xsi:type="dcterms:W3CDTF">2026-10-17T18:12:03Z</dcterms:modified>
</cp:coreProperties>
</file>